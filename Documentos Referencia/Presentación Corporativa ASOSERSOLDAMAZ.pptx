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79" r:id="rId8"/>
    <p:sldId id="262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64" r:id="rId19"/>
    <p:sldId id="282" r:id="rId20"/>
    <p:sldId id="281" r:id="rId21"/>
    <p:sldId id="280" r:id="rId22"/>
    <p:sldId id="265" r:id="rId23"/>
    <p:sldId id="266" r:id="rId24"/>
    <p:sldId id="267" r:id="rId2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EC2"/>
    <a:srgbClr val="FFF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138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088" y="514771"/>
            <a:ext cx="18435923" cy="9761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jpeg"/><Relationship Id="rId4" Type="http://schemas.openxmlformats.org/officeDocument/2006/relationships/image" Target="../media/image38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ilto:asosersoIamazonas2O20@gmaiI.com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6AE2FB6-A182-4E78-9D18-0B44E54EF3C7}"/>
              </a:ext>
            </a:extLst>
          </p:cNvPr>
          <p:cNvSpPr/>
          <p:nvPr/>
        </p:nvSpPr>
        <p:spPr>
          <a:xfrm>
            <a:off x="0" y="-15875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6624143"/>
            <a:ext cx="3141345" cy="0"/>
          </a:xfrm>
          <a:custGeom>
            <a:avLst/>
            <a:gdLst/>
            <a:ahLst/>
            <a:cxnLst/>
            <a:rect l="l" t="t" r="r" b="b"/>
            <a:pathLst>
              <a:path w="3141345">
                <a:moveTo>
                  <a:pt x="0" y="0"/>
                </a:moveTo>
                <a:lnTo>
                  <a:pt x="3141265" y="0"/>
                </a:lnTo>
              </a:path>
            </a:pathLst>
          </a:custGeom>
          <a:ln w="70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7299" y="1945035"/>
            <a:ext cx="69342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6425" algn="l"/>
                <a:tab pos="4504055" algn="l"/>
              </a:tabLst>
            </a:pPr>
            <a:r>
              <a:rPr lang="es-ES" sz="3600" spc="-254" dirty="0">
                <a:solidFill>
                  <a:srgbClr val="F6FD9C"/>
                </a:solidFill>
                <a:latin typeface="Arial" panose="020B0604020202020204" pitchFamily="34" charset="0"/>
                <a:cs typeface="Arial MT"/>
              </a:rPr>
              <a:t>PRESENTACION CORPORATIVA</a:t>
            </a:r>
            <a:endParaRPr sz="3600" dirty="0">
              <a:latin typeface="Arial" panose="020B0604020202020204" pitchFamily="34" charset="0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06" y="3895169"/>
            <a:ext cx="20080605" cy="950594"/>
          </a:xfrm>
          <a:custGeom>
            <a:avLst/>
            <a:gdLst/>
            <a:ahLst/>
            <a:cxnLst/>
            <a:rect l="l" t="t" r="r" b="b"/>
            <a:pathLst>
              <a:path w="20080605" h="950595">
                <a:moveTo>
                  <a:pt x="20080541" y="950232"/>
                </a:moveTo>
                <a:lnTo>
                  <a:pt x="0" y="95023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50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8449" y="3705118"/>
            <a:ext cx="20080605" cy="24788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30"/>
              </a:spcBef>
            </a:pPr>
            <a:r>
              <a:rPr lang="es-ES" sz="8000" spc="-765" dirty="0">
                <a:solidFill>
                  <a:srgbClr val="DFFF90"/>
                </a:solidFill>
                <a:latin typeface="Arial" panose="020B0604020202020204" pitchFamily="34" charset="0"/>
              </a:rPr>
              <a:t>ASOCIACION DE SERVICIOS DE SOLDADURA AMAZONAS</a:t>
            </a:r>
            <a:endParaRPr sz="8000" dirty="0">
              <a:latin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7319148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06" y="7884576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2985" y="6489192"/>
            <a:ext cx="12416065" cy="11528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lang="es-ES" sz="2950" spc="-60" dirty="0">
                <a:solidFill>
                  <a:srgbClr val="F6F6F6"/>
                </a:solidFill>
                <a:latin typeface="Arial MT"/>
                <a:cs typeface="Arial MT"/>
              </a:rPr>
              <a:t>Especialistas en el área metalmecánica del sector industrial y petrolero</a:t>
            </a:r>
            <a:endParaRPr sz="29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950" spc="-20" dirty="0">
                <a:solidFill>
                  <a:srgbClr val="F6F6F6"/>
                </a:solidFill>
                <a:latin typeface="Arial MT"/>
                <a:cs typeface="Arial MT"/>
              </a:rPr>
              <a:t>Experiencia</a:t>
            </a:r>
            <a:r>
              <a:rPr sz="2950" spc="3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EFEFEF"/>
                </a:solidFill>
                <a:latin typeface="Arial MT"/>
                <a:cs typeface="Arial MT"/>
              </a:rPr>
              <a:t>técnica</a:t>
            </a:r>
            <a:r>
              <a:rPr sz="2950" spc="-70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EBEBEB"/>
                </a:solidFill>
                <a:latin typeface="Arial MT"/>
                <a:cs typeface="Arial MT"/>
              </a:rPr>
              <a:t>con</a:t>
            </a:r>
            <a:r>
              <a:rPr sz="2950" spc="-2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lang="es-EC" sz="2950" spc="-65" dirty="0">
                <a:solidFill>
                  <a:srgbClr val="EBEBEB"/>
                </a:solidFill>
                <a:latin typeface="Arial MT"/>
                <a:cs typeface="Arial MT"/>
              </a:rPr>
              <a:t>sello</a:t>
            </a:r>
            <a:r>
              <a:rPr sz="295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lang="es-EC" sz="2950" dirty="0">
                <a:solidFill>
                  <a:srgbClr val="EDEDED"/>
                </a:solidFill>
                <a:latin typeface="Arial MT"/>
                <a:cs typeface="Arial MT"/>
              </a:rPr>
              <a:t>amazónico</a:t>
            </a:r>
            <a:r>
              <a:rPr lang="es-ES" sz="2950" spc="10" dirty="0">
                <a:solidFill>
                  <a:srgbClr val="EDEDED"/>
                </a:solidFill>
                <a:latin typeface="Arial MT"/>
                <a:cs typeface="Arial MT"/>
              </a:rPr>
              <a:t>.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06" y="10837366"/>
            <a:ext cx="20080605" cy="180975"/>
          </a:xfrm>
          <a:custGeom>
            <a:avLst/>
            <a:gdLst/>
            <a:ahLst/>
            <a:cxnLst/>
            <a:rect l="l" t="t" r="r" b="b"/>
            <a:pathLst>
              <a:path w="20080605" h="180975">
                <a:moveTo>
                  <a:pt x="20080541" y="180622"/>
                </a:moveTo>
                <a:lnTo>
                  <a:pt x="0" y="18062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80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5698" y="10776892"/>
            <a:ext cx="620014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60" dirty="0">
                <a:solidFill>
                  <a:srgbClr val="B8B8B8"/>
                </a:solidFill>
                <a:latin typeface="Arial MT"/>
                <a:cs typeface="Arial MT"/>
              </a:rPr>
              <a:t>ASOSERSOLDA/v</a:t>
            </a:r>
            <a:r>
              <a:rPr sz="1650" spc="-70" dirty="0">
                <a:solidFill>
                  <a:srgbClr val="B8B8B8"/>
                </a:solidFill>
                <a:latin typeface="Arial MT"/>
                <a:cs typeface="Arial MT"/>
              </a:rPr>
              <a:t>\A</a:t>
            </a:r>
            <a:r>
              <a:rPr sz="1650" spc="-725" dirty="0">
                <a:solidFill>
                  <a:srgbClr val="B8B8B8"/>
                </a:solidFill>
                <a:latin typeface="Arial MT"/>
                <a:cs typeface="Arial MT"/>
              </a:rPr>
              <a:t>Z</a:t>
            </a:r>
            <a:r>
              <a:rPr sz="1650" spc="-60" dirty="0">
                <a:solidFill>
                  <a:srgbClr val="ACACAC"/>
                </a:solidFill>
                <a:latin typeface="Arial MT"/>
                <a:cs typeface="Arial MT"/>
              </a:rPr>
              <a:t>—</a:t>
            </a:r>
            <a:r>
              <a:rPr sz="1650" spc="-20" dirty="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AAAAAA"/>
                </a:solidFill>
                <a:latin typeface="Arial MT"/>
                <a:cs typeface="Arial MT"/>
              </a:rPr>
              <a:t>S</a:t>
            </a:r>
            <a:r>
              <a:rPr sz="1650" spc="-20" dirty="0">
                <a:solidFill>
                  <a:srgbClr val="B5B5B5"/>
                </a:solidFill>
                <a:latin typeface="Arial MT"/>
                <a:cs typeface="Arial MT"/>
              </a:rPr>
              <a:t>ucumbi'os</a:t>
            </a:r>
            <a:r>
              <a:rPr sz="1650" spc="240" dirty="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sz="1650" spc="130" dirty="0">
                <a:solidFill>
                  <a:srgbClr val="AAAAAA"/>
                </a:solidFill>
                <a:latin typeface="Arial MT"/>
                <a:cs typeface="Arial MT"/>
              </a:rPr>
              <a:t>E</a:t>
            </a:r>
            <a:r>
              <a:rPr sz="1650" spc="-35" dirty="0">
                <a:solidFill>
                  <a:srgbClr val="AFAFAF"/>
                </a:solidFill>
                <a:latin typeface="Arial MT"/>
                <a:cs typeface="Arial MT"/>
              </a:rPr>
              <a:t>cuaao</a:t>
            </a:r>
            <a:r>
              <a:rPr sz="1650" spc="-375" dirty="0">
                <a:solidFill>
                  <a:srgbClr val="AFAFAF"/>
                </a:solidFill>
                <a:latin typeface="Arial MT"/>
                <a:cs typeface="Arial MT"/>
              </a:rPr>
              <a:t>r</a:t>
            </a:r>
            <a:r>
              <a:rPr sz="1650" spc="-35" dirty="0">
                <a:solidFill>
                  <a:srgbClr val="ACACAC"/>
                </a:solidFill>
                <a:latin typeface="Arial MT"/>
                <a:cs typeface="Arial MT"/>
              </a:rPr>
              <a:t>—</a:t>
            </a:r>
            <a:r>
              <a:rPr sz="1650" spc="-120" dirty="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sz="1650" spc="-30" dirty="0">
                <a:solidFill>
                  <a:srgbClr val="BCBCBC"/>
                </a:solidFill>
                <a:latin typeface="Arial MT"/>
                <a:cs typeface="Arial MT"/>
              </a:rPr>
              <a:t>RUC</a:t>
            </a:r>
            <a:r>
              <a:rPr sz="1650" spc="380" dirty="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lang="es-ES" sz="1650" spc="-140" dirty="0">
                <a:solidFill>
                  <a:srgbClr val="BFBFBF"/>
                </a:solidFill>
                <a:latin typeface="Arial MT"/>
                <a:cs typeface="Arial MT"/>
              </a:rPr>
              <a:t>2191767945001</a:t>
            </a:r>
            <a:endParaRPr sz="16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82D58C6F-D15F-49F5-BAFA-803D0680C3A8}"/>
              </a:ext>
            </a:extLst>
          </p:cNvPr>
          <p:cNvSpPr/>
          <p:nvPr/>
        </p:nvSpPr>
        <p:spPr>
          <a:xfrm>
            <a:off x="0" y="-15875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 txBox="1"/>
          <p:nvPr/>
        </p:nvSpPr>
        <p:spPr>
          <a:xfrm>
            <a:off x="791370" y="736622"/>
            <a:ext cx="62865" cy="869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0" spc="-1290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3029" y="595265"/>
            <a:ext cx="11583670" cy="869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0" spc="-130" dirty="0"/>
              <a:t>Propuesta</a:t>
            </a:r>
            <a:r>
              <a:rPr sz="5500" spc="125" dirty="0"/>
              <a:t> </a:t>
            </a:r>
            <a:r>
              <a:rPr sz="5500" spc="55" dirty="0"/>
              <a:t>de</a:t>
            </a:r>
            <a:r>
              <a:rPr sz="5500" spc="-110" dirty="0"/>
              <a:t> </a:t>
            </a:r>
            <a:r>
              <a:rPr sz="5500" spc="-85" dirty="0"/>
              <a:t>Valor</a:t>
            </a:r>
            <a:endParaRPr sz="5500" dirty="0"/>
          </a:p>
        </p:txBody>
      </p:sp>
      <p:sp>
        <p:nvSpPr>
          <p:cNvPr id="4" name="object 4"/>
          <p:cNvSpPr/>
          <p:nvPr/>
        </p:nvSpPr>
        <p:spPr>
          <a:xfrm>
            <a:off x="15706" y="2497306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06" y="3188384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6" y="3753812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706" y="4225002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06" y="4664779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874263" y="4523156"/>
            <a:ext cx="3747135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spc="-114" dirty="0">
                <a:solidFill>
                  <a:srgbClr val="DBFF9E"/>
                </a:solidFill>
                <a:latin typeface="Arial MT"/>
                <a:cs typeface="Arial MT"/>
              </a:rPr>
              <a:t>Compromiso</a:t>
            </a:r>
            <a:r>
              <a:rPr sz="3700" spc="-90" dirty="0">
                <a:solidFill>
                  <a:srgbClr val="DBFF9E"/>
                </a:solidFill>
                <a:latin typeface="Arial MT"/>
                <a:cs typeface="Arial MT"/>
              </a:rPr>
              <a:t> </a:t>
            </a:r>
            <a:r>
              <a:rPr sz="3700" spc="-70" dirty="0">
                <a:solidFill>
                  <a:srgbClr val="E8FFA5"/>
                </a:solidFill>
                <a:latin typeface="Arial MT"/>
                <a:cs typeface="Arial MT"/>
              </a:rPr>
              <a:t>Local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706" y="5481508"/>
            <a:ext cx="20080605" cy="1092200"/>
          </a:xfrm>
          <a:custGeom>
            <a:avLst/>
            <a:gdLst/>
            <a:ahLst/>
            <a:cxnLst/>
            <a:rect l="l" t="t" r="r" b="b"/>
            <a:pathLst>
              <a:path w="20080605" h="1092200">
                <a:moveTo>
                  <a:pt x="20080541" y="1091589"/>
                </a:moveTo>
                <a:lnTo>
                  <a:pt x="0" y="109158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091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706" y="6706602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126157" y="5585951"/>
            <a:ext cx="7270115" cy="144272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-7620" algn="ctr">
              <a:lnSpc>
                <a:spcPct val="124500"/>
              </a:lnSpc>
              <a:spcBef>
                <a:spcPts val="150"/>
              </a:spcBef>
            </a:pPr>
            <a:r>
              <a:rPr sz="2450" spc="-30" dirty="0">
                <a:solidFill>
                  <a:srgbClr val="7B894B"/>
                </a:solidFill>
                <a:latin typeface="Arial MT"/>
                <a:cs typeface="Arial MT"/>
              </a:rPr>
              <a:t>"Generar</a:t>
            </a:r>
            <a:r>
              <a:rPr sz="2450" spc="130" dirty="0">
                <a:solidFill>
                  <a:srgbClr val="7B894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D6E3D"/>
                </a:solidFill>
                <a:latin typeface="Arial MT"/>
                <a:cs typeface="Arial MT"/>
              </a:rPr>
              <a:t>fuentes</a:t>
            </a:r>
            <a:r>
              <a:rPr sz="2450" spc="50" dirty="0">
                <a:solidFill>
                  <a:srgbClr val="4D6E3D"/>
                </a:solidFill>
                <a:latin typeface="Arial MT"/>
                <a:cs typeface="Arial MT"/>
              </a:rPr>
              <a:t> </a:t>
            </a:r>
            <a:r>
              <a:rPr sz="2450" spc="50" dirty="0">
                <a:solidFill>
                  <a:srgbClr val="E2E2E2"/>
                </a:solidFill>
                <a:latin typeface="Arial MT"/>
                <a:cs typeface="Arial MT"/>
              </a:rPr>
              <a:t>de</a:t>
            </a:r>
            <a:r>
              <a:rPr sz="2450" spc="-120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A7CAAC"/>
                </a:solidFill>
                <a:latin typeface="Arial MT"/>
                <a:cs typeface="Arial MT"/>
              </a:rPr>
              <a:t>empleo</a:t>
            </a:r>
            <a:r>
              <a:rPr sz="2450" spc="-10" dirty="0">
                <a:solidFill>
                  <a:srgbClr val="A7CAAC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4522F"/>
                </a:solidFill>
                <a:latin typeface="Arial MT"/>
                <a:cs typeface="Arial MT"/>
              </a:rPr>
              <a:t>para</a:t>
            </a:r>
            <a:r>
              <a:rPr sz="2450" spc="-40" dirty="0">
                <a:solidFill>
                  <a:srgbClr val="34522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757C49"/>
                </a:solidFill>
                <a:latin typeface="Arial MT"/>
                <a:cs typeface="Arial MT"/>
              </a:rPr>
              <a:t>el</a:t>
            </a:r>
            <a:r>
              <a:rPr sz="2450" spc="-85" dirty="0">
                <a:solidFill>
                  <a:srgbClr val="757C4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A8CAA8"/>
                </a:solidFill>
                <a:latin typeface="Arial MT"/>
                <a:cs typeface="Arial MT"/>
              </a:rPr>
              <a:t>pueblo</a:t>
            </a:r>
            <a:r>
              <a:rPr sz="2450" spc="90" dirty="0">
                <a:solidFill>
                  <a:srgbClr val="A8CAA8"/>
                </a:solidFill>
                <a:latin typeface="Arial MT"/>
                <a:cs typeface="Arial MT"/>
              </a:rPr>
              <a:t> </a:t>
            </a:r>
            <a:r>
              <a:rPr sz="2450" spc="-160" dirty="0">
                <a:solidFill>
                  <a:srgbClr val="C1D8AE"/>
                </a:solidFill>
                <a:latin typeface="Arial MT"/>
                <a:cs typeface="Arial MT"/>
              </a:rPr>
              <a:t>y</a:t>
            </a:r>
            <a:r>
              <a:rPr sz="2450" spc="-30" dirty="0">
                <a:solidFill>
                  <a:srgbClr val="C1D8AE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697B49"/>
                </a:solidFill>
                <a:latin typeface="Arial MT"/>
                <a:cs typeface="Arial MT"/>
              </a:rPr>
              <a:t>con</a:t>
            </a:r>
            <a:r>
              <a:rPr sz="2450" spc="-80" dirty="0">
                <a:solidFill>
                  <a:srgbClr val="697B49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7C8054"/>
                </a:solidFill>
                <a:latin typeface="Arial MT"/>
                <a:cs typeface="Arial MT"/>
              </a:rPr>
              <a:t>el </a:t>
            </a:r>
            <a:r>
              <a:rPr sz="2450" spc="-20" dirty="0">
                <a:solidFill>
                  <a:srgbClr val="7C9A79"/>
                </a:solidFill>
                <a:latin typeface="Arial MT"/>
                <a:cs typeface="Arial MT"/>
              </a:rPr>
              <a:t>pueblo,</a:t>
            </a:r>
            <a:r>
              <a:rPr sz="2450" spc="5" dirty="0">
                <a:solidFill>
                  <a:srgbClr val="7C9A7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4624"/>
                </a:solidFill>
                <a:latin typeface="Arial MT"/>
                <a:cs typeface="Arial MT"/>
              </a:rPr>
              <a:t>asegurando</a:t>
            </a:r>
            <a:r>
              <a:rPr sz="2450" spc="25" dirty="0">
                <a:solidFill>
                  <a:srgbClr val="21462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4624"/>
                </a:solidFill>
                <a:latin typeface="Arial MT"/>
                <a:cs typeface="Arial MT"/>
              </a:rPr>
              <a:t>reforno</a:t>
            </a:r>
            <a:r>
              <a:rPr sz="2450" spc="-50" dirty="0">
                <a:solidFill>
                  <a:srgbClr val="21462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85634"/>
                </a:solidFill>
                <a:latin typeface="Arial MT"/>
                <a:cs typeface="Arial MT"/>
              </a:rPr>
              <a:t>económico</a:t>
            </a:r>
            <a:r>
              <a:rPr sz="2450" spc="20" dirty="0">
                <a:solidFill>
                  <a:srgbClr val="385634"/>
                </a:solidFill>
                <a:latin typeface="Arial MT"/>
                <a:cs typeface="Arial MT"/>
              </a:rPr>
              <a:t> </a:t>
            </a:r>
            <a:r>
              <a:rPr sz="2450" spc="105" dirty="0">
                <a:solidFill>
                  <a:srgbClr val="132F08"/>
                </a:solidFill>
                <a:latin typeface="Arial MT"/>
                <a:cs typeface="Arial MT"/>
              </a:rPr>
              <a:t>a</a:t>
            </a:r>
            <a:r>
              <a:rPr sz="2450" spc="-135" dirty="0">
                <a:solidFill>
                  <a:srgbClr val="132F0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53A0F"/>
                </a:solidFill>
                <a:latin typeface="Arial MT"/>
                <a:cs typeface="Arial MT"/>
              </a:rPr>
              <a:t>la</a:t>
            </a:r>
            <a:r>
              <a:rPr sz="2450" spc="-70" dirty="0">
                <a:solidFill>
                  <a:srgbClr val="153A0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0C2B05"/>
                </a:solidFill>
                <a:latin typeface="Arial MT"/>
                <a:cs typeface="Arial MT"/>
              </a:rPr>
              <a:t>zona</a:t>
            </a:r>
            <a:r>
              <a:rPr sz="2450" spc="-40" dirty="0">
                <a:solidFill>
                  <a:srgbClr val="0C2B05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0E2F0A"/>
                </a:solidFill>
                <a:latin typeface="Arial MT"/>
                <a:cs typeface="Arial MT"/>
              </a:rPr>
              <a:t>de </a:t>
            </a:r>
            <a:r>
              <a:rPr sz="2550" spc="-60" dirty="0">
                <a:solidFill>
                  <a:srgbClr val="FFFFFF"/>
                </a:solidFill>
                <a:latin typeface="Cambria"/>
                <a:cs typeface="Cambria"/>
              </a:rPr>
              <a:t>iofloeocio</a:t>
            </a:r>
            <a:r>
              <a:rPr sz="2550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550" spc="-520" dirty="0">
                <a:solidFill>
                  <a:srgbClr val="FFFFFF"/>
                </a:solidFill>
                <a:latin typeface="Cambria"/>
                <a:cs typeface="Cambria"/>
              </a:rPr>
              <a:t>"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" y="7052141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" y="7806045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9C0BA78-53F7-4954-97F1-26CC462A9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59" y="3629689"/>
            <a:ext cx="7954485" cy="475363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29F2797-6304-4B25-BD71-F1A56CDA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979" y="2757021"/>
            <a:ext cx="7992590" cy="58967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2F5FF6C-D0EE-4DCB-A767-412389B1D98D}"/>
              </a:ext>
            </a:extLst>
          </p:cNvPr>
          <p:cNvSpPr/>
          <p:nvPr/>
        </p:nvSpPr>
        <p:spPr>
          <a:xfrm>
            <a:off x="15706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374029" y="3965847"/>
            <a:ext cx="1790700" cy="227965"/>
          </a:xfrm>
          <a:custGeom>
            <a:avLst/>
            <a:gdLst/>
            <a:ahLst/>
            <a:cxnLst/>
            <a:rect l="l" t="t" r="r" b="b"/>
            <a:pathLst>
              <a:path w="1790700" h="227964">
                <a:moveTo>
                  <a:pt x="1790521" y="227741"/>
                </a:moveTo>
                <a:lnTo>
                  <a:pt x="0" y="227741"/>
                </a:lnTo>
                <a:lnTo>
                  <a:pt x="0" y="0"/>
                </a:lnTo>
                <a:lnTo>
                  <a:pt x="1790521" y="0"/>
                </a:lnTo>
                <a:lnTo>
                  <a:pt x="1790521" y="227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40854" y="3486804"/>
            <a:ext cx="1916430" cy="243840"/>
          </a:xfrm>
          <a:custGeom>
            <a:avLst/>
            <a:gdLst/>
            <a:ahLst/>
            <a:cxnLst/>
            <a:rect l="l" t="t" r="r" b="b"/>
            <a:pathLst>
              <a:path w="1916430" h="243839">
                <a:moveTo>
                  <a:pt x="1916172" y="243448"/>
                </a:moveTo>
                <a:lnTo>
                  <a:pt x="0" y="243448"/>
                </a:lnTo>
                <a:lnTo>
                  <a:pt x="0" y="0"/>
                </a:lnTo>
                <a:lnTo>
                  <a:pt x="1916172" y="0"/>
                </a:lnTo>
                <a:lnTo>
                  <a:pt x="1916172" y="243448"/>
                </a:lnTo>
                <a:close/>
              </a:path>
            </a:pathLst>
          </a:custGeom>
          <a:solidFill>
            <a:srgbClr val="000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1DF1E4B-2650-4BC1-8C2C-725B09CBE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910" y="2218090"/>
            <a:ext cx="8640381" cy="637311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D96CAEE-6565-4D45-AEBE-5978D451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88" y="514771"/>
            <a:ext cx="7944959" cy="116221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C9383EF-BD8D-4A9E-BF58-4666AD961E47}"/>
              </a:ext>
            </a:extLst>
          </p:cNvPr>
          <p:cNvPicPr/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83" y="2682875"/>
            <a:ext cx="5830965" cy="5443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D988166F-9868-4730-981E-953CCF68D474}"/>
              </a:ext>
            </a:extLst>
          </p:cNvPr>
          <p:cNvSpPr/>
          <p:nvPr/>
        </p:nvSpPr>
        <p:spPr>
          <a:xfrm>
            <a:off x="872348" y="2528718"/>
            <a:ext cx="5842154" cy="60215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3A06B5-3847-41B9-BB02-DD6D244D7314}"/>
              </a:ext>
            </a:extLst>
          </p:cNvPr>
          <p:cNvSpPr/>
          <p:nvPr/>
        </p:nvSpPr>
        <p:spPr>
          <a:xfrm>
            <a:off x="23495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9" name="object 9"/>
          <p:cNvSpPr txBox="1"/>
          <p:nvPr/>
        </p:nvSpPr>
        <p:spPr>
          <a:xfrm>
            <a:off x="1196151" y="3662635"/>
            <a:ext cx="4714190" cy="546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3450" dirty="0">
                <a:solidFill>
                  <a:srgbClr val="DDF9A3"/>
                </a:solidFill>
                <a:latin typeface="Arial MT"/>
                <a:cs typeface="Arial MT"/>
              </a:rPr>
              <a:t>Industria </a:t>
            </a:r>
            <a:r>
              <a:rPr lang="es-ES" sz="3450" spc="-10" dirty="0">
                <a:solidFill>
                  <a:srgbClr val="DBF997"/>
                </a:solidFill>
                <a:latin typeface="Arial MT"/>
              </a:rPr>
              <a:t>Petrolera</a:t>
            </a:r>
            <a:endParaRPr sz="3450" spc="-10" dirty="0">
              <a:solidFill>
                <a:srgbClr val="DBF997"/>
              </a:solidFill>
              <a:latin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03819" y="4077912"/>
            <a:ext cx="5249640" cy="546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16150" algn="l"/>
              </a:tabLst>
            </a:pPr>
            <a:r>
              <a:rPr sz="3450" spc="-10" dirty="0">
                <a:solidFill>
                  <a:srgbClr val="DBF997"/>
                </a:solidFill>
                <a:latin typeface="Arial MT"/>
                <a:cs typeface="Arial MT"/>
              </a:rPr>
              <a:t>Sold</a:t>
            </a:r>
            <a:r>
              <a:rPr lang="es-ES" sz="3450" spc="-10" dirty="0">
                <a:solidFill>
                  <a:srgbClr val="DBF997"/>
                </a:solidFill>
                <a:latin typeface="Arial MT"/>
                <a:cs typeface="Arial MT"/>
              </a:rPr>
              <a:t>a</a:t>
            </a:r>
            <a:r>
              <a:rPr sz="3450" spc="-10" dirty="0">
                <a:solidFill>
                  <a:srgbClr val="DBF997"/>
                </a:solidFill>
                <a:latin typeface="Arial MT"/>
                <a:cs typeface="Arial MT"/>
              </a:rPr>
              <a:t>dur</a:t>
            </a:r>
            <a:r>
              <a:rPr lang="es-ES" sz="3450" spc="-10" dirty="0">
                <a:solidFill>
                  <a:srgbClr val="DBF997"/>
                </a:solidFill>
                <a:latin typeface="Arial MT"/>
                <a:cs typeface="Arial MT"/>
              </a:rPr>
              <a:t>a de Alta Presión</a:t>
            </a:r>
            <a:endParaRPr sz="34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450" y="4186179"/>
            <a:ext cx="5361799" cy="48019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C" sz="2550" spc="-70" dirty="0">
                <a:solidFill>
                  <a:srgbClr val="F6F6F6"/>
                </a:solidFill>
                <a:latin typeface="Arial MT"/>
                <a:cs typeface="Arial MT"/>
              </a:rPr>
              <a:t>Ingeniería.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C" sz="2550" spc="-70" dirty="0">
                <a:solidFill>
                  <a:srgbClr val="F6F6F6"/>
                </a:solidFill>
                <a:latin typeface="Arial MT"/>
                <a:cs typeface="Arial MT"/>
              </a:rPr>
              <a:t>Construcción</a:t>
            </a:r>
            <a:r>
              <a:rPr sz="2550" spc="-5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EBEBEB"/>
                </a:solidFill>
                <a:latin typeface="Arial MT"/>
                <a:cs typeface="Arial MT"/>
              </a:rPr>
              <a:t>de</a:t>
            </a:r>
            <a:r>
              <a:rPr lang="es-ES" sz="2550" spc="-25" dirty="0">
                <a:solidFill>
                  <a:srgbClr val="EBEBEB"/>
                </a:solidFill>
                <a:latin typeface="Arial MT"/>
                <a:cs typeface="Arial MT"/>
              </a:rPr>
              <a:t> oleoductos, gasoductos (líneas de flujo).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5" dirty="0">
                <a:solidFill>
                  <a:srgbClr val="EBEBEB"/>
                </a:solidFill>
                <a:latin typeface="Arial MT"/>
                <a:cs typeface="Arial MT"/>
              </a:rPr>
              <a:t>Construcción y mantenimiento de facilidades de la industria.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5" dirty="0">
                <a:solidFill>
                  <a:srgbClr val="EBEBEB"/>
                </a:solidFill>
                <a:latin typeface="Arial MT"/>
                <a:cs typeface="Arial MT"/>
              </a:rPr>
              <a:t>Construcción y montaje de tanques de almacenamiento, vessels, manifolds, botas de gas, KOD, separadores, calentadores, etc.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5" dirty="0">
                <a:solidFill>
                  <a:srgbClr val="EBEBEB"/>
                </a:solidFill>
                <a:latin typeface="Arial MT"/>
                <a:cs typeface="Arial MT"/>
              </a:rPr>
              <a:t>Montajes electromecánicos.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5" dirty="0">
                <a:solidFill>
                  <a:srgbClr val="EBEBEB"/>
                </a:solidFill>
                <a:latin typeface="Arial MT"/>
                <a:cs typeface="Arial MT"/>
              </a:rPr>
              <a:t>Sandblasting y pintura industrial.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5" dirty="0">
                <a:solidFill>
                  <a:srgbClr val="EBEBEB"/>
                </a:solidFill>
                <a:latin typeface="Arial MT"/>
                <a:cs typeface="Arial MT"/>
              </a:rPr>
              <a:t>Pruebas hidrostáticas, neumáticas.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37383" y="4889894"/>
            <a:ext cx="4988308" cy="2775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F2F2F2"/>
                </a:solidFill>
                <a:latin typeface="Arial MT"/>
                <a:cs typeface="Arial MT"/>
              </a:rPr>
              <a:t>Certificada</a:t>
            </a:r>
            <a:r>
              <a:rPr sz="2550" spc="-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255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EC" sz="2550" spc="-75" dirty="0">
                <a:solidFill>
                  <a:srgbClr val="EFEFEF"/>
                </a:solidFill>
                <a:latin typeface="Arial MT"/>
                <a:cs typeface="Arial MT"/>
              </a:rPr>
              <a:t>procesos</a:t>
            </a:r>
            <a:r>
              <a:rPr lang="es-ES" sz="2550" spc="-75" dirty="0">
                <a:solidFill>
                  <a:srgbClr val="EFEFEF"/>
                </a:solidFill>
                <a:latin typeface="Arial MT"/>
                <a:cs typeface="Arial MT"/>
              </a:rPr>
              <a:t> industriales críticos y facilidades petroleras, contamos con procedimientos certificados bajo normas y procedimientos internacionales – AWS – API- ASME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255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88093" y="4712869"/>
            <a:ext cx="4468495" cy="400430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10" dirty="0">
                <a:solidFill>
                  <a:srgbClr val="EBEBEB"/>
                </a:solidFill>
                <a:latin typeface="Arial MT"/>
                <a:cs typeface="Arial MT"/>
              </a:rPr>
              <a:t>Mantenimiento y reparación de tanques de almacenamiento.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10" dirty="0">
                <a:solidFill>
                  <a:srgbClr val="EBEBEB"/>
                </a:solidFill>
                <a:latin typeface="Arial MT"/>
                <a:cs typeface="Arial MT"/>
              </a:rPr>
              <a:t>Mantenimiento de oleoductos, gasoductos.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10" dirty="0">
                <a:solidFill>
                  <a:srgbClr val="EBEBEB"/>
                </a:solidFill>
                <a:latin typeface="Arial MT"/>
                <a:cs typeface="Arial MT"/>
              </a:rPr>
              <a:t>Mantenimiento de facilidades de la industria petrolera.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10" dirty="0">
                <a:solidFill>
                  <a:srgbClr val="EBEBEB"/>
                </a:solidFill>
                <a:latin typeface="Arial MT"/>
                <a:cs typeface="Arial MT"/>
              </a:rPr>
              <a:t>Limpieza y lavado de tanques.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10" dirty="0">
                <a:solidFill>
                  <a:srgbClr val="EBEBEB"/>
                </a:solidFill>
                <a:latin typeface="Arial MT"/>
                <a:cs typeface="Arial MT"/>
              </a:rPr>
              <a:t>Apoyo con personal técnico a las operaciones.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2550" dirty="0">
              <a:latin typeface="Arial MT"/>
              <a:cs typeface="Arial MT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3B32AAED-8E9C-455D-AFE2-14AB8FD8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60" y="317130"/>
            <a:ext cx="9859751" cy="1057423"/>
          </a:xfrm>
          <a:prstGeom prst="rect">
            <a:avLst/>
          </a:prstGeom>
        </p:spPr>
      </p:pic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0DCDBCC-4632-432A-AA6D-520D4AFAF50C}"/>
              </a:ext>
            </a:extLst>
          </p:cNvPr>
          <p:cNvSpPr/>
          <p:nvPr/>
        </p:nvSpPr>
        <p:spPr>
          <a:xfrm>
            <a:off x="756249" y="2456031"/>
            <a:ext cx="5630897" cy="7846844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768D219E-99CE-4A66-8AE3-D84B22ECF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41" y="2546826"/>
            <a:ext cx="1183794" cy="1097701"/>
          </a:xfrm>
          <a:prstGeom prst="rect">
            <a:avLst/>
          </a:prstGeom>
        </p:spPr>
      </p:pic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B6F70F81-A2EA-41C6-8924-C4A4973C436D}"/>
              </a:ext>
            </a:extLst>
          </p:cNvPr>
          <p:cNvSpPr/>
          <p:nvPr/>
        </p:nvSpPr>
        <p:spPr>
          <a:xfrm>
            <a:off x="6910027" y="2456031"/>
            <a:ext cx="5630897" cy="78468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EE139327-19E0-4587-887B-80E3ED5657CB}"/>
              </a:ext>
            </a:extLst>
          </p:cNvPr>
          <p:cNvSpPr/>
          <p:nvPr/>
        </p:nvSpPr>
        <p:spPr>
          <a:xfrm>
            <a:off x="13063805" y="2456031"/>
            <a:ext cx="5630897" cy="78468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0" name="object 10">
            <a:extLst>
              <a:ext uri="{FF2B5EF4-FFF2-40B4-BE49-F238E27FC236}">
                <a16:creationId xmlns:a16="http://schemas.microsoft.com/office/drawing/2014/main" id="{85F5F25E-6856-4F87-B102-0EAE574F7C50}"/>
              </a:ext>
            </a:extLst>
          </p:cNvPr>
          <p:cNvSpPr txBox="1"/>
          <p:nvPr/>
        </p:nvSpPr>
        <p:spPr>
          <a:xfrm>
            <a:off x="13388093" y="4021844"/>
            <a:ext cx="5249640" cy="546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16150" algn="l"/>
              </a:tabLst>
            </a:pPr>
            <a:r>
              <a:rPr lang="es-ES" sz="3450" spc="-10" dirty="0">
                <a:solidFill>
                  <a:srgbClr val="DBF997"/>
                </a:solidFill>
                <a:latin typeface="Arial MT"/>
                <a:cs typeface="Arial MT"/>
              </a:rPr>
              <a:t>Mantenimiento</a:t>
            </a:r>
            <a:endParaRPr sz="3450" dirty="0">
              <a:latin typeface="Arial MT"/>
              <a:cs typeface="Arial MT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6A570D7-D81B-4E4A-B895-2AC872987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765" y="2729216"/>
            <a:ext cx="875234" cy="1174654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AA889612-6A0B-440A-B2DE-AC22B8004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347" y="2808088"/>
            <a:ext cx="1038158" cy="1038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7FEAED4-F3DB-43A5-8E3A-DC5CD189AE7B}"/>
              </a:ext>
            </a:extLst>
          </p:cNvPr>
          <p:cNvSpPr/>
          <p:nvPr/>
        </p:nvSpPr>
        <p:spPr>
          <a:xfrm>
            <a:off x="23495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object 6"/>
          <p:cNvSpPr/>
          <p:nvPr/>
        </p:nvSpPr>
        <p:spPr>
          <a:xfrm>
            <a:off x="15706" y="4790430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C1CBC12-138F-45A2-BFA9-4E177739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398624"/>
            <a:ext cx="8859486" cy="90500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7EF035C-597C-44A9-B0EA-89EE01C1D5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318"/>
          <a:stretch/>
        </p:blipFill>
        <p:spPr>
          <a:xfrm>
            <a:off x="755650" y="3175717"/>
            <a:ext cx="6172200" cy="3229426"/>
          </a:xfrm>
          <a:prstGeom prst="rect">
            <a:avLst/>
          </a:prstGeo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A9A05243-8DC1-4669-ADA1-A14F29AD4F90}"/>
              </a:ext>
            </a:extLst>
          </p:cNvPr>
          <p:cNvSpPr txBox="1"/>
          <p:nvPr/>
        </p:nvSpPr>
        <p:spPr>
          <a:xfrm>
            <a:off x="984250" y="6299768"/>
            <a:ext cx="807720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16150" algn="l"/>
              </a:tabLst>
            </a:pPr>
            <a:r>
              <a:rPr lang="es-ES" sz="2400" b="1" spc="-10" dirty="0">
                <a:solidFill>
                  <a:srgbClr val="DBF997"/>
                </a:solidFill>
                <a:latin typeface="Arial MT"/>
                <a:cs typeface="Arial MT"/>
              </a:rPr>
              <a:t>Mantenimiento de sistemas eléctricos y de sirenas</a:t>
            </a:r>
            <a:endParaRPr sz="2400" b="1" dirty="0">
              <a:latin typeface="Arial MT"/>
              <a:cs typeface="Arial MT"/>
            </a:endParaRPr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68E260D9-B8CA-4F1E-9547-077C26EF575F}"/>
              </a:ext>
            </a:extLst>
          </p:cNvPr>
          <p:cNvSpPr txBox="1"/>
          <p:nvPr/>
        </p:nvSpPr>
        <p:spPr>
          <a:xfrm>
            <a:off x="1001548" y="6998706"/>
            <a:ext cx="7069302" cy="275601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s-ES" sz="2400" spc="-75" dirty="0">
                <a:solidFill>
                  <a:srgbClr val="E4FEC2"/>
                </a:solidFill>
                <a:latin typeface="Arial MT"/>
                <a:cs typeface="Arial MT"/>
              </a:rPr>
              <a:t>Instalación y mantenimiento de sirenas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s-ES" sz="2400" spc="-75" dirty="0">
                <a:solidFill>
                  <a:srgbClr val="E4FEC2"/>
                </a:solidFill>
                <a:latin typeface="Arial MT"/>
                <a:cs typeface="Arial MT"/>
              </a:rPr>
              <a:t>Instalación y mantenimiento de sistemas eléctricos y luminarias.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s-ES" sz="2400" spc="-75" dirty="0">
                <a:solidFill>
                  <a:srgbClr val="E4FEC2"/>
                </a:solidFill>
                <a:latin typeface="Arial MT"/>
                <a:cs typeface="Arial MT"/>
              </a:rPr>
              <a:t>Instalación y mantenimiento de aires acondicionados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endParaRPr sz="2400" dirty="0">
              <a:solidFill>
                <a:srgbClr val="E4FEC2"/>
              </a:solidFill>
              <a:latin typeface="Arial MT"/>
              <a:cs typeface="Arial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4CA9D8E-36FC-4A3C-AB29-0AC24FC8D1AD}"/>
              </a:ext>
            </a:extLst>
          </p:cNvPr>
          <p:cNvSpPr txBox="1"/>
          <p:nvPr/>
        </p:nvSpPr>
        <p:spPr>
          <a:xfrm>
            <a:off x="10737850" y="3265300"/>
            <a:ext cx="807720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16150" algn="l"/>
              </a:tabLst>
            </a:pPr>
            <a:r>
              <a:rPr lang="es-ES" sz="2400" b="1" spc="-10" dirty="0">
                <a:solidFill>
                  <a:srgbClr val="DBF997"/>
                </a:solidFill>
                <a:latin typeface="Arial MT"/>
                <a:cs typeface="Arial MT"/>
              </a:rPr>
              <a:t>Obras Civiles Generales</a:t>
            </a:r>
            <a:endParaRPr sz="2400" b="1" dirty="0">
              <a:latin typeface="Arial MT"/>
              <a:cs typeface="Arial MT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74724CA0-0D36-4124-BE1B-B2FA9109FC99}"/>
              </a:ext>
            </a:extLst>
          </p:cNvPr>
          <p:cNvSpPr txBox="1"/>
          <p:nvPr/>
        </p:nvSpPr>
        <p:spPr>
          <a:xfrm>
            <a:off x="10737850" y="3928227"/>
            <a:ext cx="7069302" cy="445647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25"/>
              </a:spcBef>
              <a:defRPr sz="2400" spc="-75">
                <a:solidFill>
                  <a:srgbClr val="E4FEC2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50000"/>
              </a:lnSpc>
            </a:pPr>
            <a:r>
              <a:rPr lang="es-ES" dirty="0"/>
              <a:t>Pilotajes y cimentaciones.</a:t>
            </a:r>
          </a:p>
          <a:p>
            <a:pPr>
              <a:lnSpc>
                <a:spcPct val="150000"/>
              </a:lnSpc>
            </a:pPr>
            <a:r>
              <a:rPr lang="es-ES" dirty="0"/>
              <a:t>Cerramientos perimetrales y garitas.</a:t>
            </a:r>
          </a:p>
          <a:p>
            <a:pPr>
              <a:lnSpc>
                <a:spcPct val="150000"/>
              </a:lnSpc>
            </a:pPr>
            <a:r>
              <a:rPr lang="es-ES" dirty="0"/>
              <a:t>Construcción de viviendas subsidiadas.</a:t>
            </a:r>
          </a:p>
          <a:p>
            <a:pPr>
              <a:lnSpc>
                <a:spcPct val="150000"/>
              </a:lnSpc>
            </a:pPr>
            <a:r>
              <a:rPr lang="es-ES" dirty="0"/>
              <a:t>Construcción de bases para generadores</a:t>
            </a:r>
          </a:p>
          <a:p>
            <a:pPr>
              <a:lnSpc>
                <a:spcPct val="150000"/>
              </a:lnSpc>
            </a:pPr>
            <a:r>
              <a:rPr lang="es-ES" dirty="0"/>
              <a:t>Hormigonado de losas en general.</a:t>
            </a:r>
          </a:p>
          <a:p>
            <a:pPr>
              <a:lnSpc>
                <a:spcPct val="150000"/>
              </a:lnSpc>
            </a:pPr>
            <a:r>
              <a:rPr lang="es-ES" dirty="0"/>
              <a:t>Construcción de marquesinas para secado de café – cacao.</a:t>
            </a:r>
          </a:p>
          <a:p>
            <a:pPr>
              <a:lnSpc>
                <a:spcPct val="150000"/>
              </a:lnSpc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2F38D29-3472-45CF-837B-A0C9D1441BE9}"/>
              </a:ext>
            </a:extLst>
          </p:cNvPr>
          <p:cNvSpPr/>
          <p:nvPr/>
        </p:nvSpPr>
        <p:spPr>
          <a:xfrm>
            <a:off x="0" y="5942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088" y="514771"/>
            <a:ext cx="18435923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0" algn="l">
              <a:lnSpc>
                <a:spcPct val="100000"/>
              </a:lnSpc>
              <a:spcBef>
                <a:spcPts val="95"/>
              </a:spcBef>
            </a:pPr>
            <a:r>
              <a:rPr lang="es-CO" sz="8700" spc="-780" baseline="-12931" dirty="0">
                <a:solidFill>
                  <a:srgbClr val="DDFF97"/>
                </a:solidFill>
              </a:rPr>
              <a:t>I</a:t>
            </a:r>
            <a:r>
              <a:rPr sz="8700" spc="1139" baseline="-12931" dirty="0">
                <a:solidFill>
                  <a:srgbClr val="DDFF97"/>
                </a:solidFill>
              </a:rPr>
              <a:t> </a:t>
            </a:r>
            <a:r>
              <a:rPr sz="8700" spc="-532" baseline="-3352" dirty="0"/>
              <a:t>Nuestro</a:t>
            </a:r>
            <a:r>
              <a:rPr sz="8700" spc="157" baseline="-3352" dirty="0"/>
              <a:t> </a:t>
            </a:r>
            <a:r>
              <a:rPr sz="5800" spc="-275" dirty="0"/>
              <a:t>Equipo</a:t>
            </a:r>
            <a:r>
              <a:rPr sz="5800" spc="-85" dirty="0"/>
              <a:t> </a:t>
            </a:r>
            <a:r>
              <a:rPr sz="5800" spc="-155" dirty="0"/>
              <a:t>Directivo</a:t>
            </a:r>
            <a:endParaRPr sz="5800" dirty="0"/>
          </a:p>
        </p:txBody>
      </p:sp>
      <p:sp>
        <p:nvSpPr>
          <p:cNvPr id="4" name="object 4"/>
          <p:cNvSpPr txBox="1"/>
          <p:nvPr/>
        </p:nvSpPr>
        <p:spPr>
          <a:xfrm>
            <a:off x="1329592" y="2841924"/>
            <a:ext cx="22637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C" sz="2300" spc="45" dirty="0">
                <a:solidFill>
                  <a:srgbClr val="C8D49C"/>
                </a:solidFill>
                <a:latin typeface="Arial MT"/>
                <a:cs typeface="Arial MT"/>
              </a:rPr>
              <a:t>Fidel Tituana A.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4459" y="3597792"/>
            <a:ext cx="47332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E2E2E2"/>
                </a:solidFill>
                <a:latin typeface="Arial MT"/>
                <a:cs typeface="Arial MT"/>
              </a:rPr>
              <a:t>Representante</a:t>
            </a:r>
            <a:r>
              <a:rPr sz="1900" spc="155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E2E2E2"/>
                </a:solidFill>
                <a:latin typeface="Arial MT"/>
                <a:cs typeface="Arial MT"/>
              </a:rPr>
              <a:t>Legal</a:t>
            </a:r>
            <a:r>
              <a:rPr sz="1900" spc="185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E8E8E8"/>
                </a:solidFill>
                <a:latin typeface="Arial MT"/>
                <a:cs typeface="Arial MT"/>
              </a:rPr>
              <a:t>/</a:t>
            </a:r>
            <a:r>
              <a:rPr sz="1900" spc="1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EFEFEF"/>
                </a:solidFill>
                <a:latin typeface="Arial MT"/>
                <a:cs typeface="Arial MT"/>
              </a:rPr>
              <a:t>Supervisor</a:t>
            </a:r>
            <a:r>
              <a:rPr sz="1900" spc="270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1900" spc="100" dirty="0">
                <a:solidFill>
                  <a:srgbClr val="E9E9E9"/>
                </a:solidFill>
                <a:latin typeface="Arial MT"/>
                <a:cs typeface="Arial MT"/>
              </a:rPr>
              <a:t>de</a:t>
            </a:r>
            <a:r>
              <a:rPr sz="1900" spc="-60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E4E4E4"/>
                </a:solidFill>
                <a:latin typeface="Arial MT"/>
                <a:cs typeface="Arial MT"/>
              </a:rPr>
              <a:t>Obra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15256" y="3597792"/>
            <a:ext cx="3729354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Presidente</a:t>
            </a:r>
            <a:r>
              <a:rPr sz="190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B4D28"/>
                </a:solidFill>
                <a:latin typeface="Arial MT"/>
                <a:cs typeface="Arial MT"/>
              </a:rPr>
              <a:t>/</a:t>
            </a:r>
            <a:r>
              <a:rPr sz="1900" spc="85" dirty="0">
                <a:solidFill>
                  <a:srgbClr val="4B4D28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9F9F9"/>
                </a:solidFill>
                <a:latin typeface="Arial MT"/>
                <a:cs typeface="Arial MT"/>
              </a:rPr>
              <a:t>Supervisor</a:t>
            </a:r>
            <a:r>
              <a:rPr sz="1900" spc="3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7F7F7"/>
                </a:solidFill>
                <a:latin typeface="Arial MT"/>
                <a:cs typeface="Arial MT"/>
              </a:rPr>
              <a:t>/V\ecônico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95751" y="3597792"/>
            <a:ext cx="433451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20" dirty="0">
                <a:solidFill>
                  <a:srgbClr val="EDEDED"/>
                </a:solidFill>
                <a:latin typeface="Arial MT"/>
                <a:cs typeface="Arial MT"/>
              </a:rPr>
              <a:t>Super</a:t>
            </a:r>
            <a:r>
              <a:rPr sz="1900" spc="-30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1900" spc="65" dirty="0">
                <a:solidFill>
                  <a:srgbClr val="E6E6E6"/>
                </a:solidFill>
                <a:latin typeface="Arial MT"/>
                <a:cs typeface="Arial MT"/>
              </a:rPr>
              <a:t>intendente</a:t>
            </a:r>
            <a:r>
              <a:rPr sz="1900" spc="100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lang="es-CO" sz="1900" spc="100" dirty="0">
                <a:solidFill>
                  <a:srgbClr val="E2F6D6"/>
                </a:solidFill>
                <a:latin typeface="Arial MT"/>
                <a:cs typeface="Arial MT"/>
              </a:rPr>
              <a:t>General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65C066DA-AC44-4A74-A953-B750DE6D9B74}"/>
              </a:ext>
            </a:extLst>
          </p:cNvPr>
          <p:cNvSpPr txBox="1"/>
          <p:nvPr/>
        </p:nvSpPr>
        <p:spPr>
          <a:xfrm>
            <a:off x="7512917" y="2864395"/>
            <a:ext cx="22637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C" sz="2300" spc="45" dirty="0">
                <a:solidFill>
                  <a:srgbClr val="C8D49C"/>
                </a:solidFill>
                <a:latin typeface="Arial MT"/>
                <a:cs typeface="Arial MT"/>
              </a:rPr>
              <a:t>Freddy Rogel V.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C9A96192-90A7-4DD3-82DC-3CA71BEC417B}"/>
              </a:ext>
            </a:extLst>
          </p:cNvPr>
          <p:cNvSpPr txBox="1"/>
          <p:nvPr/>
        </p:nvSpPr>
        <p:spPr>
          <a:xfrm>
            <a:off x="13695751" y="2833204"/>
            <a:ext cx="2757099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C" sz="2300" spc="45" dirty="0">
                <a:solidFill>
                  <a:srgbClr val="C8D49C"/>
                </a:solidFill>
                <a:latin typeface="Arial MT"/>
                <a:cs typeface="Arial MT"/>
              </a:rPr>
              <a:t>Carlos Polanco V.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9F756EA4-47A5-4043-92A4-A06A42376FE6}"/>
              </a:ext>
            </a:extLst>
          </p:cNvPr>
          <p:cNvSpPr txBox="1"/>
          <p:nvPr/>
        </p:nvSpPr>
        <p:spPr>
          <a:xfrm>
            <a:off x="1329592" y="5595834"/>
            <a:ext cx="2757099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C" sz="2300" spc="45" dirty="0">
                <a:solidFill>
                  <a:srgbClr val="C8D49C"/>
                </a:solidFill>
                <a:latin typeface="Arial MT"/>
                <a:cs typeface="Arial MT"/>
              </a:rPr>
              <a:t>Carlos Collazos D.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5CF52D4C-8D2B-4437-8973-A829A5E13D86}"/>
              </a:ext>
            </a:extLst>
          </p:cNvPr>
          <p:cNvSpPr txBox="1"/>
          <p:nvPr/>
        </p:nvSpPr>
        <p:spPr>
          <a:xfrm>
            <a:off x="7538651" y="5596432"/>
            <a:ext cx="2757099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C" sz="2300" spc="45">
                <a:solidFill>
                  <a:srgbClr val="C8D49C"/>
                </a:solidFill>
                <a:latin typeface="Arial MT"/>
                <a:cs typeface="Arial MT"/>
              </a:rPr>
              <a:t>Solin Gonzalez.</a:t>
            </a:r>
            <a:endParaRPr lang="es-EC" sz="2300">
              <a:latin typeface="Arial MT"/>
              <a:cs typeface="Arial MT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E94A40A5-E46B-442E-B8A2-7F4FF8289648}"/>
              </a:ext>
            </a:extLst>
          </p:cNvPr>
          <p:cNvSpPr txBox="1"/>
          <p:nvPr/>
        </p:nvSpPr>
        <p:spPr>
          <a:xfrm>
            <a:off x="1334459" y="6455300"/>
            <a:ext cx="47332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E2E2E2"/>
                </a:solidFill>
                <a:latin typeface="Arial MT"/>
                <a:cs typeface="Arial MT"/>
              </a:rPr>
              <a:t>Coordinador de Proyectos / Procesista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149E72B7-BB3E-4D15-A83C-4019AB4DC33B}"/>
              </a:ext>
            </a:extLst>
          </p:cNvPr>
          <p:cNvSpPr txBox="1"/>
          <p:nvPr/>
        </p:nvSpPr>
        <p:spPr>
          <a:xfrm>
            <a:off x="7538651" y="6410215"/>
            <a:ext cx="47332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E2E2E2"/>
                </a:solidFill>
                <a:latin typeface="Arial MT"/>
                <a:cs typeface="Arial MT"/>
              </a:rPr>
              <a:t>Coordinador HSE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B475972C-14F8-4E4E-A85A-39B85828B938}"/>
              </a:ext>
            </a:extLst>
          </p:cNvPr>
          <p:cNvSpPr/>
          <p:nvPr/>
        </p:nvSpPr>
        <p:spPr>
          <a:xfrm>
            <a:off x="1098550" y="2566934"/>
            <a:ext cx="5105400" cy="20556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1858E79-9C04-4AC7-8271-DA971D5CB035}"/>
              </a:ext>
            </a:extLst>
          </p:cNvPr>
          <p:cNvSpPr/>
          <p:nvPr/>
        </p:nvSpPr>
        <p:spPr>
          <a:xfrm>
            <a:off x="7166541" y="2627976"/>
            <a:ext cx="5105400" cy="20556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83EF0D5F-67E8-4473-9723-AA65A4BDF217}"/>
              </a:ext>
            </a:extLst>
          </p:cNvPr>
          <p:cNvSpPr/>
          <p:nvPr/>
        </p:nvSpPr>
        <p:spPr>
          <a:xfrm>
            <a:off x="13346996" y="2627976"/>
            <a:ext cx="5105400" cy="20556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1D32CDDA-1C3F-4BF7-BE96-BA9B35AE63DD}"/>
              </a:ext>
            </a:extLst>
          </p:cNvPr>
          <p:cNvSpPr/>
          <p:nvPr/>
        </p:nvSpPr>
        <p:spPr>
          <a:xfrm>
            <a:off x="1040667" y="5427478"/>
            <a:ext cx="5105400" cy="20556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1CA24A1-C121-4ECC-93F0-55F425871D6D}"/>
              </a:ext>
            </a:extLst>
          </p:cNvPr>
          <p:cNvSpPr/>
          <p:nvPr/>
        </p:nvSpPr>
        <p:spPr>
          <a:xfrm>
            <a:off x="7163239" y="5427478"/>
            <a:ext cx="5105400" cy="2055643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2F38D29-3472-45CF-837B-A0C9D1441BE9}"/>
              </a:ext>
            </a:extLst>
          </p:cNvPr>
          <p:cNvSpPr/>
          <p:nvPr/>
        </p:nvSpPr>
        <p:spPr>
          <a:xfrm>
            <a:off x="23495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088" y="514771"/>
            <a:ext cx="18435923" cy="13510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95"/>
              </a:spcBef>
            </a:pPr>
            <a:r>
              <a:rPr lang="es-ES" sz="8700" spc="-780" baseline="-12931" dirty="0">
                <a:solidFill>
                  <a:srgbClr val="DDFF97"/>
                </a:solidFill>
              </a:rPr>
              <a:t>I</a:t>
            </a:r>
            <a:r>
              <a:rPr sz="8700" spc="1139" baseline="-12931" dirty="0">
                <a:solidFill>
                  <a:srgbClr val="DDFF97"/>
                </a:solidFill>
              </a:rPr>
              <a:t> </a:t>
            </a:r>
            <a:r>
              <a:rPr lang="es-EC" sz="8700" spc="-532" baseline="-3352" dirty="0"/>
              <a:t>Nuestro</a:t>
            </a:r>
            <a:r>
              <a:rPr lang="es-ES" sz="8700" spc="157" baseline="-3352" dirty="0"/>
              <a:t>s Clientes</a:t>
            </a:r>
            <a:endParaRPr sz="58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1D83281-A1A0-4AA2-A624-E09F1C73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354" y="7570086"/>
            <a:ext cx="3600000" cy="95598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5E2F059-8823-4AB4-A061-CC3B46B40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13" y="7693655"/>
            <a:ext cx="2520000" cy="190018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87F5885-93FE-4C32-860F-0E0F21C38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93" y="2159139"/>
            <a:ext cx="3600000" cy="12184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944DDF2-CF10-4C58-8D54-2B3D30982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028" y="2159139"/>
            <a:ext cx="2520000" cy="235087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BCA1E96-8330-4BCA-99B7-2FD6DE5C4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719" y="2159139"/>
            <a:ext cx="3600000" cy="140792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DEDE8C41-F296-4D57-B329-687C16CE63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8354" y="2159139"/>
            <a:ext cx="3600000" cy="140792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5BA967F6-196C-48D6-9BCE-A0889B8D8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59659" y="4922975"/>
            <a:ext cx="2880000" cy="1773943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BE8BB63-DFBA-4B2B-AFB1-E01647E405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934" y="4436302"/>
            <a:ext cx="2520000" cy="277565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CEACFD7-CA65-4B7C-9D6E-204D56F1DB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75721" y="7526641"/>
            <a:ext cx="2880000" cy="2636307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F644D56B-7717-4808-8A56-13A326C6D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4888" y="5172697"/>
            <a:ext cx="2520000" cy="132474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064A7F1B-7B15-4582-BFA9-7959742EA7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4353" y="4582721"/>
            <a:ext cx="1885125" cy="2651744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4C8F337F-DFFE-406F-94D2-D5EFA0ED7C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19354" y="4582721"/>
            <a:ext cx="3600000" cy="1866151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B8A6634-3E32-4703-A5E7-1F7837C49A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494988" y="2159139"/>
            <a:ext cx="2880000" cy="155835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CEE9699E-E1C9-4C87-B330-C7C3C8523F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56028" y="7693655"/>
            <a:ext cx="2520000" cy="175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8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43199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/>
              <a:t>G</a:t>
            </a:r>
            <a:r>
              <a:rPr sz="4000" dirty="0"/>
              <a:t>ran</a:t>
            </a:r>
            <a:r>
              <a:rPr sz="4000" spc="-250" dirty="0"/>
              <a:t> </a:t>
            </a:r>
            <a:r>
              <a:rPr sz="4000" dirty="0"/>
              <a:t>Tierra</a:t>
            </a:r>
            <a:r>
              <a:rPr sz="4000" spc="-240" dirty="0"/>
              <a:t> </a:t>
            </a:r>
            <a:r>
              <a:rPr sz="4000" spc="-40" dirty="0"/>
              <a:t>Energy</a:t>
            </a:r>
            <a:r>
              <a:rPr sz="4000" spc="10" dirty="0"/>
              <a:t> </a:t>
            </a:r>
            <a:r>
              <a:rPr sz="4000" spc="-40" dirty="0"/>
              <a:t>(2024-</a:t>
            </a:r>
            <a:r>
              <a:rPr sz="4000" spc="-10" dirty="0"/>
              <a:t>202</a:t>
            </a:r>
            <a:r>
              <a:rPr lang="es-ES" sz="4000" spc="-10" dirty="0"/>
              <a:t>6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25" name="object 21">
            <a:extLst>
              <a:ext uri="{FF2B5EF4-FFF2-40B4-BE49-F238E27FC236}">
                <a16:creationId xmlns:a16="http://schemas.microsoft.com/office/drawing/2014/main" id="{76286C89-AB85-4017-970B-CDFCD99E8449}"/>
              </a:ext>
            </a:extLst>
          </p:cNvPr>
          <p:cNvSpPr txBox="1"/>
          <p:nvPr/>
        </p:nvSpPr>
        <p:spPr>
          <a:xfrm>
            <a:off x="1332631" y="2734042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CB2DDEA7-B31F-40F5-86B2-E44274F2BEE9}"/>
              </a:ext>
            </a:extLst>
          </p:cNvPr>
          <p:cNvSpPr txBox="1"/>
          <p:nvPr/>
        </p:nvSpPr>
        <p:spPr>
          <a:xfrm>
            <a:off x="2620107" y="2747180"/>
            <a:ext cx="5950368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la construcción de las facilidades tempranas fase 3  - Conejo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04965458-FDD6-4664-BDD5-91D94B9E5570}"/>
              </a:ext>
            </a:extLst>
          </p:cNvPr>
          <p:cNvSpPr txBox="1"/>
          <p:nvPr/>
        </p:nvSpPr>
        <p:spPr>
          <a:xfrm>
            <a:off x="9854134" y="2786670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Conejo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FC80A5A0-1894-481E-9ECD-B4912F13B8A5}"/>
              </a:ext>
            </a:extLst>
          </p:cNvPr>
          <p:cNvSpPr txBox="1"/>
          <p:nvPr/>
        </p:nvSpPr>
        <p:spPr>
          <a:xfrm>
            <a:off x="2597715" y="3536002"/>
            <a:ext cx="5950368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la construcción de las facilidades tempranas fase 1 y fase 2 - conejo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1AF966EF-30EF-4567-80E2-DBCE9241AAE9}"/>
              </a:ext>
            </a:extLst>
          </p:cNvPr>
          <p:cNvSpPr txBox="1"/>
          <p:nvPr/>
        </p:nvSpPr>
        <p:spPr>
          <a:xfrm>
            <a:off x="9831742" y="3469448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Conejo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995FDE9E-7A13-4A49-B12B-75811046D5F5}"/>
              </a:ext>
            </a:extLst>
          </p:cNvPr>
          <p:cNvSpPr txBox="1"/>
          <p:nvPr/>
        </p:nvSpPr>
        <p:spPr>
          <a:xfrm>
            <a:off x="1353351" y="3543312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4" name="object 21">
            <a:extLst>
              <a:ext uri="{FF2B5EF4-FFF2-40B4-BE49-F238E27FC236}">
                <a16:creationId xmlns:a16="http://schemas.microsoft.com/office/drawing/2014/main" id="{4AFB6AB4-D474-4FF3-8AC6-943AF47D72D1}"/>
              </a:ext>
            </a:extLst>
          </p:cNvPr>
          <p:cNvSpPr txBox="1"/>
          <p:nvPr/>
        </p:nvSpPr>
        <p:spPr>
          <a:xfrm>
            <a:off x="2597715" y="4240090"/>
            <a:ext cx="5950368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de obra metalmecánica con relación a fabricación de accesorios en tubería de acero, colectores y estructuras metálicas y facilidades tempranas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5" name="object 21">
            <a:extLst>
              <a:ext uri="{FF2B5EF4-FFF2-40B4-BE49-F238E27FC236}">
                <a16:creationId xmlns:a16="http://schemas.microsoft.com/office/drawing/2014/main" id="{0AC391F2-4B36-4497-AB36-72DC06C69E2A}"/>
              </a:ext>
            </a:extLst>
          </p:cNvPr>
          <p:cNvSpPr txBox="1"/>
          <p:nvPr/>
        </p:nvSpPr>
        <p:spPr>
          <a:xfrm>
            <a:off x="9815142" y="4204853"/>
            <a:ext cx="566102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Plataformas Charapa I, Charapa 3, Charapa B, Chanangué J, Iguana 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A0BDBCC1-EBFC-4723-BF6B-A38225694505}"/>
              </a:ext>
            </a:extLst>
          </p:cNvPr>
          <p:cNvSpPr txBox="1"/>
          <p:nvPr/>
        </p:nvSpPr>
        <p:spPr>
          <a:xfrm>
            <a:off x="2597715" y="5559933"/>
            <a:ext cx="5912602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la construcción del acceso y garita en el Batallón de Selva 56 Tungurahua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80E8A119-BF0E-4646-9863-4AE9D893CADD}"/>
              </a:ext>
            </a:extLst>
          </p:cNvPr>
          <p:cNvSpPr txBox="1"/>
          <p:nvPr/>
        </p:nvSpPr>
        <p:spPr>
          <a:xfrm>
            <a:off x="9815141" y="5559933"/>
            <a:ext cx="566102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Batallón de Selva 56 - Tungurahua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BB784B2E-3B6F-492D-9CB6-30935EA46FBA}"/>
              </a:ext>
            </a:extLst>
          </p:cNvPr>
          <p:cNvSpPr txBox="1"/>
          <p:nvPr/>
        </p:nvSpPr>
        <p:spPr>
          <a:xfrm>
            <a:off x="2620107" y="6273427"/>
            <a:ext cx="6102769" cy="6142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Servicio de construcción de 2 garitas transportables.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endParaRPr lang="es-ES" sz="1900" dirty="0">
              <a:latin typeface="Arial MT"/>
              <a:cs typeface="Arial MT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530AECC9-5E7D-48F6-8999-95475D10C2C0}"/>
              </a:ext>
            </a:extLst>
          </p:cNvPr>
          <p:cNvSpPr txBox="1"/>
          <p:nvPr/>
        </p:nvSpPr>
        <p:spPr>
          <a:xfrm>
            <a:off x="9815140" y="6357126"/>
            <a:ext cx="5661025" cy="94256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endParaRPr lang="es-ES" sz="190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C38CBDE7-6B30-4044-92EE-C626D41BFC00}"/>
              </a:ext>
            </a:extLst>
          </p:cNvPr>
          <p:cNvSpPr txBox="1"/>
          <p:nvPr/>
        </p:nvSpPr>
        <p:spPr>
          <a:xfrm>
            <a:off x="2605504" y="6692609"/>
            <a:ext cx="6102769" cy="9066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Servicio de construcción de 2 jaulas de protección de cellar para pozos.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endParaRPr lang="es-ES" sz="1900" dirty="0">
              <a:latin typeface="Arial MT"/>
              <a:cs typeface="Arial MT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1345F54A-6951-4539-B407-64C05AFA3187}"/>
              </a:ext>
            </a:extLst>
          </p:cNvPr>
          <p:cNvSpPr txBox="1"/>
          <p:nvPr/>
        </p:nvSpPr>
        <p:spPr>
          <a:xfrm>
            <a:off x="1332630" y="7486282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763C8AFF-C9E8-4383-A6FB-16CB10DC6A14}"/>
              </a:ext>
            </a:extLst>
          </p:cNvPr>
          <p:cNvSpPr txBox="1"/>
          <p:nvPr/>
        </p:nvSpPr>
        <p:spPr>
          <a:xfrm>
            <a:off x="2620107" y="7444525"/>
            <a:ext cx="5950368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construcción y puesta de aislamiento térmico en el circuito de líneas de vapor en las facilidades del PAD Charapa – B. Elaboración de planos As Built. Fase II – INCOMAQ S.A. - GTE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4" name="object 21">
            <a:extLst>
              <a:ext uri="{FF2B5EF4-FFF2-40B4-BE49-F238E27FC236}">
                <a16:creationId xmlns:a16="http://schemas.microsoft.com/office/drawing/2014/main" id="{92ACCC7F-6EAF-45D8-9DAB-AC9FBF792037}"/>
              </a:ext>
            </a:extLst>
          </p:cNvPr>
          <p:cNvSpPr txBox="1"/>
          <p:nvPr/>
        </p:nvSpPr>
        <p:spPr>
          <a:xfrm>
            <a:off x="9815139" y="7450952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Charapa B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C194E25E-20F9-45C9-B224-46C566A03607}"/>
              </a:ext>
            </a:extLst>
          </p:cNvPr>
          <p:cNvSpPr txBox="1"/>
          <p:nvPr/>
        </p:nvSpPr>
        <p:spPr>
          <a:xfrm>
            <a:off x="2620107" y="8798594"/>
            <a:ext cx="5950368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de obra metalmecánica con relación a fabricación de accesorios en tubería de acero, colectores y estructuras metálicas y facilidades tempranas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C5FA3D81-A23B-4894-B73E-A72A9E3A46B6}"/>
              </a:ext>
            </a:extLst>
          </p:cNvPr>
          <p:cNvSpPr txBox="1"/>
          <p:nvPr/>
        </p:nvSpPr>
        <p:spPr>
          <a:xfrm>
            <a:off x="9828842" y="8800093"/>
            <a:ext cx="566102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Plataformas Charapa I, Charapa 3, Charapa B, Chanangué J, Iguana 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7" name="object 21">
            <a:extLst>
              <a:ext uri="{FF2B5EF4-FFF2-40B4-BE49-F238E27FC236}">
                <a16:creationId xmlns:a16="http://schemas.microsoft.com/office/drawing/2014/main" id="{08A73F02-01AA-40B3-BBB5-FF9AA67B8C32}"/>
              </a:ext>
            </a:extLst>
          </p:cNvPr>
          <p:cNvSpPr txBox="1"/>
          <p:nvPr/>
        </p:nvSpPr>
        <p:spPr>
          <a:xfrm>
            <a:off x="2597715" y="10118023"/>
            <a:ext cx="6102769" cy="6142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Servicio de construcción de 2 garitas transportables.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endParaRPr lang="es-ES" sz="1900" dirty="0">
              <a:latin typeface="Arial MT"/>
              <a:cs typeface="Arial MT"/>
            </a:endParaRPr>
          </a:p>
        </p:txBody>
      </p:sp>
      <p:sp>
        <p:nvSpPr>
          <p:cNvPr id="48" name="object 21">
            <a:extLst>
              <a:ext uri="{FF2B5EF4-FFF2-40B4-BE49-F238E27FC236}">
                <a16:creationId xmlns:a16="http://schemas.microsoft.com/office/drawing/2014/main" id="{E6EDFAC8-91B4-47B5-BFCA-F56AD49F916A}"/>
              </a:ext>
            </a:extLst>
          </p:cNvPr>
          <p:cNvSpPr txBox="1"/>
          <p:nvPr/>
        </p:nvSpPr>
        <p:spPr>
          <a:xfrm>
            <a:off x="2597714" y="10587331"/>
            <a:ext cx="6102769" cy="9066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Servicio de construcción de 6 jaulas de protección de cellar para pozos.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endParaRPr lang="es-ES" sz="1900" dirty="0">
              <a:latin typeface="Arial MT"/>
              <a:cs typeface="Arial MT"/>
            </a:endParaRPr>
          </a:p>
        </p:txBody>
      </p:sp>
      <p:sp>
        <p:nvSpPr>
          <p:cNvPr id="49" name="object 21">
            <a:extLst>
              <a:ext uri="{FF2B5EF4-FFF2-40B4-BE49-F238E27FC236}">
                <a16:creationId xmlns:a16="http://schemas.microsoft.com/office/drawing/2014/main" id="{F2F67E25-8994-495A-B305-C4784E9F778C}"/>
              </a:ext>
            </a:extLst>
          </p:cNvPr>
          <p:cNvSpPr txBox="1"/>
          <p:nvPr/>
        </p:nvSpPr>
        <p:spPr>
          <a:xfrm>
            <a:off x="9792747" y="10104548"/>
            <a:ext cx="5661025" cy="94256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endParaRPr lang="es-ES" sz="190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61261" y="-10885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/>
              <a:t>G</a:t>
            </a:r>
            <a:r>
              <a:rPr sz="4000" dirty="0"/>
              <a:t>ran</a:t>
            </a:r>
            <a:r>
              <a:rPr sz="4000" spc="-250" dirty="0"/>
              <a:t> </a:t>
            </a:r>
            <a:r>
              <a:rPr sz="4000" dirty="0"/>
              <a:t>Tierra</a:t>
            </a:r>
            <a:r>
              <a:rPr sz="4000" spc="-240" dirty="0"/>
              <a:t> </a:t>
            </a:r>
            <a:r>
              <a:rPr sz="4000" spc="-40" dirty="0"/>
              <a:t>Energy</a:t>
            </a:r>
            <a:r>
              <a:rPr sz="4000" spc="10" dirty="0"/>
              <a:t> </a:t>
            </a:r>
            <a:r>
              <a:rPr sz="4000" spc="-40" dirty="0"/>
              <a:t>(2024-</a:t>
            </a:r>
            <a:r>
              <a:rPr sz="4000" spc="-10" dirty="0"/>
              <a:t>202</a:t>
            </a:r>
            <a:r>
              <a:rPr lang="es-ES" sz="4000" spc="-10" dirty="0"/>
              <a:t>6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25" name="object 21">
            <a:extLst>
              <a:ext uri="{FF2B5EF4-FFF2-40B4-BE49-F238E27FC236}">
                <a16:creationId xmlns:a16="http://schemas.microsoft.com/office/drawing/2014/main" id="{76286C89-AB85-4017-970B-CDFCD99E8449}"/>
              </a:ext>
            </a:extLst>
          </p:cNvPr>
          <p:cNvSpPr txBox="1"/>
          <p:nvPr/>
        </p:nvSpPr>
        <p:spPr>
          <a:xfrm>
            <a:off x="1332631" y="2734042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CB2DDEA7-B31F-40F5-86B2-E44274F2BEE9}"/>
              </a:ext>
            </a:extLst>
          </p:cNvPr>
          <p:cNvSpPr txBox="1"/>
          <p:nvPr/>
        </p:nvSpPr>
        <p:spPr>
          <a:xfrm>
            <a:off x="2597714" y="2744487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construcción de una cubierta metálica de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galvalumen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prepintado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en el Grupo de Fuerzas Especiales 53 Rayo, ubicado en la parroquia Nueva Loja, cantón Lago Agrio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04965458-FDD6-4664-BDD5-91D94B9E5570}"/>
              </a:ext>
            </a:extLst>
          </p:cNvPr>
          <p:cNvSpPr txBox="1"/>
          <p:nvPr/>
        </p:nvSpPr>
        <p:spPr>
          <a:xfrm>
            <a:off x="9854134" y="2786670"/>
            <a:ext cx="566102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Grupo de Fuerzas Especiales 53 Rayo, cantón Lago Agrio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763C8AFF-C9E8-4383-A6FB-16CB10DC6A14}"/>
              </a:ext>
            </a:extLst>
          </p:cNvPr>
          <p:cNvSpPr txBox="1"/>
          <p:nvPr/>
        </p:nvSpPr>
        <p:spPr>
          <a:xfrm>
            <a:off x="2597714" y="6709619"/>
            <a:ext cx="5950368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Construcción de garitas transportables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4" name="object 21">
            <a:extLst>
              <a:ext uri="{FF2B5EF4-FFF2-40B4-BE49-F238E27FC236}">
                <a16:creationId xmlns:a16="http://schemas.microsoft.com/office/drawing/2014/main" id="{92ACCC7F-6EAF-45D8-9DAB-AC9FBF792037}"/>
              </a:ext>
            </a:extLst>
          </p:cNvPr>
          <p:cNvSpPr txBox="1"/>
          <p:nvPr/>
        </p:nvSpPr>
        <p:spPr>
          <a:xfrm>
            <a:off x="9869509" y="6709619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BCE4D677-F337-4CAD-8E86-4791E8E35982}"/>
              </a:ext>
            </a:extLst>
          </p:cNvPr>
          <p:cNvSpPr txBox="1"/>
          <p:nvPr/>
        </p:nvSpPr>
        <p:spPr>
          <a:xfrm>
            <a:off x="2620107" y="4023931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Construcción y mantenimiento de una cubierta metálica de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galvalumen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prepintado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en la sala de reuniones junto a la piscina en el grupo de fuerzas especiales 53 rayo parroquia nueva Loja cantón Lago Agrio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4E6D6E31-A0A3-4D93-802D-C631F31269EA}"/>
              </a:ext>
            </a:extLst>
          </p:cNvPr>
          <p:cNvSpPr txBox="1"/>
          <p:nvPr/>
        </p:nvSpPr>
        <p:spPr>
          <a:xfrm>
            <a:off x="9828842" y="4022618"/>
            <a:ext cx="566102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Grupo de Fuerzas Especiales 53 Rayo, cantón Lago Agrio –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3" name="object 21">
            <a:extLst>
              <a:ext uri="{FF2B5EF4-FFF2-40B4-BE49-F238E27FC236}">
                <a16:creationId xmlns:a16="http://schemas.microsoft.com/office/drawing/2014/main" id="{5017F8F2-9636-4E7D-9D52-235A85713126}"/>
              </a:ext>
            </a:extLst>
          </p:cNvPr>
          <p:cNvSpPr txBox="1"/>
          <p:nvPr/>
        </p:nvSpPr>
        <p:spPr>
          <a:xfrm>
            <a:off x="2597714" y="5369298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construcción de una cubierta metálica de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galvalumen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prepintado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en el Comando de policía de Sucumbíos, ubicado en la parroquia nueva Loja, cantón Lago Agrio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CE66941A-FA5D-46D5-90AE-2CFEFDFECF43}"/>
              </a:ext>
            </a:extLst>
          </p:cNvPr>
          <p:cNvSpPr txBox="1"/>
          <p:nvPr/>
        </p:nvSpPr>
        <p:spPr>
          <a:xfrm>
            <a:off x="9854134" y="5360962"/>
            <a:ext cx="566102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Comando de policía de Sucumbíos – GRAN TIERRA ENERGY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0817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43199" y="-365125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 err="1"/>
              <a:t>Conduto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2</a:t>
            </a:r>
            <a:r>
              <a:rPr sz="4000" spc="-40" dirty="0"/>
              <a:t>-</a:t>
            </a:r>
            <a:r>
              <a:rPr sz="4000" spc="-10" dirty="0"/>
              <a:t>202</a:t>
            </a:r>
            <a:r>
              <a:rPr lang="es-ES" sz="4000" spc="-10" dirty="0"/>
              <a:t>5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26" name="object 21">
            <a:extLst>
              <a:ext uri="{FF2B5EF4-FFF2-40B4-BE49-F238E27FC236}">
                <a16:creationId xmlns:a16="http://schemas.microsoft.com/office/drawing/2014/main" id="{CB2DDEA7-B31F-40F5-86B2-E44274F2BEE9}"/>
              </a:ext>
            </a:extLst>
          </p:cNvPr>
          <p:cNvSpPr txBox="1"/>
          <p:nvPr/>
        </p:nvSpPr>
        <p:spPr>
          <a:xfrm>
            <a:off x="2597714" y="2744487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el reforzamiento de los puentes 1,2,3,5,6,9 de la vía a la plataforma Conejo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04965458-FDD6-4664-BDD5-91D94B9E5570}"/>
              </a:ext>
            </a:extLst>
          </p:cNvPr>
          <p:cNvSpPr txBox="1"/>
          <p:nvPr/>
        </p:nvSpPr>
        <p:spPr>
          <a:xfrm>
            <a:off x="9854134" y="2786670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BCE4D677-F337-4CAD-8E86-4791E8E35982}"/>
              </a:ext>
            </a:extLst>
          </p:cNvPr>
          <p:cNvSpPr txBox="1"/>
          <p:nvPr/>
        </p:nvSpPr>
        <p:spPr>
          <a:xfrm>
            <a:off x="2597714" y="3460077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para: Soldadura, instalación de revestimiento y enterrado de líneas de flujo así como el cerramiento perimetral de la plataforma Iguana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4E6D6E31-A0A3-4D93-802D-C631F31269EA}"/>
              </a:ext>
            </a:extLst>
          </p:cNvPr>
          <p:cNvSpPr txBox="1"/>
          <p:nvPr/>
        </p:nvSpPr>
        <p:spPr>
          <a:xfrm>
            <a:off x="9869509" y="3445725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Iguana -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0792D8CB-FC3B-4E6E-8089-C14F2B87A9F3}"/>
              </a:ext>
            </a:extLst>
          </p:cNvPr>
          <p:cNvSpPr txBox="1"/>
          <p:nvPr/>
        </p:nvSpPr>
        <p:spPr>
          <a:xfrm>
            <a:off x="1353351" y="2739265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43D5E6DC-427F-4073-91AC-5AD623328EE5}"/>
              </a:ext>
            </a:extLst>
          </p:cNvPr>
          <p:cNvSpPr txBox="1"/>
          <p:nvPr/>
        </p:nvSpPr>
        <p:spPr>
          <a:xfrm>
            <a:off x="1332630" y="4816480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04FA7B97-0286-4D57-9F80-0A0BB62DBEA1}"/>
              </a:ext>
            </a:extLst>
          </p:cNvPr>
          <p:cNvSpPr txBox="1"/>
          <p:nvPr/>
        </p:nvSpPr>
        <p:spPr>
          <a:xfrm>
            <a:off x="2619438" y="4820658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Construcción de líneas de flujo para el pozo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Chupizo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, plataforma Charapa B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02F80E58-DF02-423D-A207-C84490D1B2BE}"/>
              </a:ext>
            </a:extLst>
          </p:cNvPr>
          <p:cNvSpPr txBox="1"/>
          <p:nvPr/>
        </p:nvSpPr>
        <p:spPr>
          <a:xfrm>
            <a:off x="9891901" y="4812322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Charapa B -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58942759-DCDA-4686-A031-BACB056975D7}"/>
              </a:ext>
            </a:extLst>
          </p:cNvPr>
          <p:cNvSpPr txBox="1"/>
          <p:nvPr/>
        </p:nvSpPr>
        <p:spPr>
          <a:xfrm>
            <a:off x="2633141" y="5527912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para: Soldadura, instalación de revestimiento y enterrado de líneas de flujo así como el cerramiento perimetral de la plataforma Chanangué K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C32F0AEE-2E1F-492B-B6E8-F32439B8E4AC}"/>
              </a:ext>
            </a:extLst>
          </p:cNvPr>
          <p:cNvSpPr txBox="1"/>
          <p:nvPr/>
        </p:nvSpPr>
        <p:spPr>
          <a:xfrm>
            <a:off x="9897583" y="5495452"/>
            <a:ext cx="5661025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Chanangué - 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9902EB77-C73A-4E69-8BFC-7A052567F663}"/>
              </a:ext>
            </a:extLst>
          </p:cNvPr>
          <p:cNvSpPr txBox="1"/>
          <p:nvPr/>
        </p:nvSpPr>
        <p:spPr>
          <a:xfrm>
            <a:off x="2654865" y="6836495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la reparación del puente Chananguecito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7" name="object 21">
            <a:extLst>
              <a:ext uri="{FF2B5EF4-FFF2-40B4-BE49-F238E27FC236}">
                <a16:creationId xmlns:a16="http://schemas.microsoft.com/office/drawing/2014/main" id="{3B4E8343-6B13-4816-B1D5-2F43C0A9D661}"/>
              </a:ext>
            </a:extLst>
          </p:cNvPr>
          <p:cNvSpPr txBox="1"/>
          <p:nvPr/>
        </p:nvSpPr>
        <p:spPr>
          <a:xfrm>
            <a:off x="9871847" y="6823355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8" name="object 21">
            <a:extLst>
              <a:ext uri="{FF2B5EF4-FFF2-40B4-BE49-F238E27FC236}">
                <a16:creationId xmlns:a16="http://schemas.microsoft.com/office/drawing/2014/main" id="{ED91A6DC-C16B-4C1D-8613-395BEA034BEE}"/>
              </a:ext>
            </a:extLst>
          </p:cNvPr>
          <p:cNvSpPr txBox="1"/>
          <p:nvPr/>
        </p:nvSpPr>
        <p:spPr>
          <a:xfrm>
            <a:off x="1332629" y="7685711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9" name="object 21">
            <a:extLst>
              <a:ext uri="{FF2B5EF4-FFF2-40B4-BE49-F238E27FC236}">
                <a16:creationId xmlns:a16="http://schemas.microsoft.com/office/drawing/2014/main" id="{1710DACA-9A7E-4F61-93AB-56252961886D}"/>
              </a:ext>
            </a:extLst>
          </p:cNvPr>
          <p:cNvSpPr txBox="1"/>
          <p:nvPr/>
        </p:nvSpPr>
        <p:spPr>
          <a:xfrm>
            <a:off x="2654865" y="7694047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trabajos en el puente 2 “río todos beben” en Chanangué J2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D59C79F9-4A70-425D-8D32-14A941B63230}"/>
              </a:ext>
            </a:extLst>
          </p:cNvPr>
          <p:cNvSpPr txBox="1"/>
          <p:nvPr/>
        </p:nvSpPr>
        <p:spPr>
          <a:xfrm>
            <a:off x="9827731" y="7685710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51" name="object 21">
            <a:extLst>
              <a:ext uri="{FF2B5EF4-FFF2-40B4-BE49-F238E27FC236}">
                <a16:creationId xmlns:a16="http://schemas.microsoft.com/office/drawing/2014/main" id="{03F9C8BC-8751-4F85-B434-3A0D346B36DC}"/>
              </a:ext>
            </a:extLst>
          </p:cNvPr>
          <p:cNvSpPr txBox="1"/>
          <p:nvPr/>
        </p:nvSpPr>
        <p:spPr>
          <a:xfrm>
            <a:off x="2633141" y="8457279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trabajos de reforzamiento del puente J1 plataforma Chanangue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52" name="object 21">
            <a:extLst>
              <a:ext uri="{FF2B5EF4-FFF2-40B4-BE49-F238E27FC236}">
                <a16:creationId xmlns:a16="http://schemas.microsoft.com/office/drawing/2014/main" id="{5D418C40-E9BD-4C28-B23B-4ECC0359A5B6}"/>
              </a:ext>
            </a:extLst>
          </p:cNvPr>
          <p:cNvSpPr txBox="1"/>
          <p:nvPr/>
        </p:nvSpPr>
        <p:spPr>
          <a:xfrm>
            <a:off x="9891901" y="8461090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654865" y="9321649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trabajos de reforzamiento y construcción de una pantalla de protección del talud en la vía a la plataforma Chanangué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9F4E82DF-3822-4898-826E-08E384F058EF}"/>
              </a:ext>
            </a:extLst>
          </p:cNvPr>
          <p:cNvSpPr txBox="1"/>
          <p:nvPr/>
        </p:nvSpPr>
        <p:spPr>
          <a:xfrm>
            <a:off x="9854134" y="9321649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7290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43199" y="-365125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 err="1"/>
              <a:t>Conduto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2</a:t>
            </a:r>
            <a:r>
              <a:rPr sz="4000" spc="-40" dirty="0"/>
              <a:t>-</a:t>
            </a:r>
            <a:r>
              <a:rPr sz="4000" spc="-10" dirty="0"/>
              <a:t>202</a:t>
            </a:r>
            <a:r>
              <a:rPr lang="es-ES" sz="4000" spc="-10" dirty="0"/>
              <a:t>5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48" name="object 21">
            <a:extLst>
              <a:ext uri="{FF2B5EF4-FFF2-40B4-BE49-F238E27FC236}">
                <a16:creationId xmlns:a16="http://schemas.microsoft.com/office/drawing/2014/main" id="{ED91A6DC-C16B-4C1D-8613-395BEA034BEE}"/>
              </a:ext>
            </a:extLst>
          </p:cNvPr>
          <p:cNvSpPr txBox="1"/>
          <p:nvPr/>
        </p:nvSpPr>
        <p:spPr>
          <a:xfrm>
            <a:off x="1383096" y="3043101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889250" y="3043101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trabajos de reforzamiento y reparación del puente Cachupenda en la vía de acceso a la plataforma Charapa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9F4E82DF-3822-4898-826E-08E384F058EF}"/>
              </a:ext>
            </a:extLst>
          </p:cNvPr>
          <p:cNvSpPr txBox="1"/>
          <p:nvPr/>
        </p:nvSpPr>
        <p:spPr>
          <a:xfrm>
            <a:off x="9921943" y="3043100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7CEF97F1-851C-4C01-9FC1-62257A376C05}"/>
              </a:ext>
            </a:extLst>
          </p:cNvPr>
          <p:cNvSpPr txBox="1"/>
          <p:nvPr/>
        </p:nvSpPr>
        <p:spPr>
          <a:xfrm>
            <a:off x="2889250" y="6532239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trabajos de reforzamiento y reparación del puente 01 de ingreso a la plataforma Espejo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9287A899-F6BA-4425-87F8-F92919D9E14C}"/>
              </a:ext>
            </a:extLst>
          </p:cNvPr>
          <p:cNvSpPr txBox="1"/>
          <p:nvPr/>
        </p:nvSpPr>
        <p:spPr>
          <a:xfrm>
            <a:off x="9891901" y="6532239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Espejo – GEOPARK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3" name="object 21">
            <a:extLst>
              <a:ext uri="{FF2B5EF4-FFF2-40B4-BE49-F238E27FC236}">
                <a16:creationId xmlns:a16="http://schemas.microsoft.com/office/drawing/2014/main" id="{A2CC9E38-8419-4CD4-BF14-8EC81A9FB3C1}"/>
              </a:ext>
            </a:extLst>
          </p:cNvPr>
          <p:cNvSpPr txBox="1"/>
          <p:nvPr/>
        </p:nvSpPr>
        <p:spPr>
          <a:xfrm>
            <a:off x="2889250" y="4005625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para: Soldadura, instalación de revestimiento y enterrado de líneas de flujo así como el cerramiento perimetral de la plataforma Chanangué J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4" name="object 21">
            <a:extLst>
              <a:ext uri="{FF2B5EF4-FFF2-40B4-BE49-F238E27FC236}">
                <a16:creationId xmlns:a16="http://schemas.microsoft.com/office/drawing/2014/main" id="{9D4B6D9B-3230-4038-91F2-A5397897C07F}"/>
              </a:ext>
            </a:extLst>
          </p:cNvPr>
          <p:cNvSpPr txBox="1"/>
          <p:nvPr/>
        </p:nvSpPr>
        <p:spPr>
          <a:xfrm>
            <a:off x="2889250" y="5289550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para: Soldadura, instalación de revestimiento y enterrado de líneas de flujo así como el cerramiento perimetral de la plataforma Charapa B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5" name="object 21">
            <a:extLst>
              <a:ext uri="{FF2B5EF4-FFF2-40B4-BE49-F238E27FC236}">
                <a16:creationId xmlns:a16="http://schemas.microsoft.com/office/drawing/2014/main" id="{7D5E2CB1-78FF-4528-89FB-351ECF34E26B}"/>
              </a:ext>
            </a:extLst>
          </p:cNvPr>
          <p:cNvSpPr txBox="1"/>
          <p:nvPr/>
        </p:nvSpPr>
        <p:spPr>
          <a:xfrm>
            <a:off x="9891901" y="4004937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94C73954-0F02-44A5-A19F-EADAE543833B}"/>
              </a:ext>
            </a:extLst>
          </p:cNvPr>
          <p:cNvSpPr txBox="1"/>
          <p:nvPr/>
        </p:nvSpPr>
        <p:spPr>
          <a:xfrm>
            <a:off x="9921943" y="5136184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AD6FB4F5-4D1F-40B2-95CF-A40A0DADB671}"/>
              </a:ext>
            </a:extLst>
          </p:cNvPr>
          <p:cNvSpPr txBox="1"/>
          <p:nvPr/>
        </p:nvSpPr>
        <p:spPr>
          <a:xfrm>
            <a:off x="2882900" y="7621907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para: Soldadura, instalación de revestimiento y enterrado de líneas de flujo así como el cerramiento perimetral de la plataforma Espejo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5136C234-DE5F-4F25-A681-B933D033FB0D}"/>
              </a:ext>
            </a:extLst>
          </p:cNvPr>
          <p:cNvSpPr txBox="1"/>
          <p:nvPr/>
        </p:nvSpPr>
        <p:spPr>
          <a:xfrm>
            <a:off x="9891901" y="7619235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Espejo – GEOPARK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41B70E46-5425-4D2A-888D-D8BE938D0402}"/>
              </a:ext>
            </a:extLst>
          </p:cNvPr>
          <p:cNvSpPr txBox="1"/>
          <p:nvPr/>
        </p:nvSpPr>
        <p:spPr>
          <a:xfrm>
            <a:off x="2889250" y="8828513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para: Soldadura del pipe conductor plataforma Espejo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4" name="object 21">
            <a:extLst>
              <a:ext uri="{FF2B5EF4-FFF2-40B4-BE49-F238E27FC236}">
                <a16:creationId xmlns:a16="http://schemas.microsoft.com/office/drawing/2014/main" id="{5A0738AC-1777-4C3A-96F8-6592A474A311}"/>
              </a:ext>
            </a:extLst>
          </p:cNvPr>
          <p:cNvSpPr txBox="1"/>
          <p:nvPr/>
        </p:nvSpPr>
        <p:spPr>
          <a:xfrm>
            <a:off x="9891901" y="8831622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 Espejo – GEOPARK ENERGY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28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11747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 err="1"/>
              <a:t>Sertecpet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2</a:t>
            </a:r>
            <a:r>
              <a:rPr sz="4000" spc="-40" dirty="0"/>
              <a:t>-</a:t>
            </a:r>
            <a:r>
              <a:rPr sz="4000" spc="-10" dirty="0"/>
              <a:t>202</a:t>
            </a:r>
            <a:r>
              <a:rPr lang="es-ES" sz="4000" spc="-10" dirty="0"/>
              <a:t>5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48" name="object 21">
            <a:extLst>
              <a:ext uri="{FF2B5EF4-FFF2-40B4-BE49-F238E27FC236}">
                <a16:creationId xmlns:a16="http://schemas.microsoft.com/office/drawing/2014/main" id="{ED91A6DC-C16B-4C1D-8613-395BEA034BEE}"/>
              </a:ext>
            </a:extLst>
          </p:cNvPr>
          <p:cNvSpPr txBox="1"/>
          <p:nvPr/>
        </p:nvSpPr>
        <p:spPr>
          <a:xfrm>
            <a:off x="1383096" y="3043101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889250" y="3043101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para la soldadura bajo llamado (T&amp;M) con equipos de primera y equipos estructurales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9F4E82DF-3822-4898-826E-08E384F058EF}"/>
              </a:ext>
            </a:extLst>
          </p:cNvPr>
          <p:cNvSpPr txBox="1"/>
          <p:nvPr/>
        </p:nvSpPr>
        <p:spPr>
          <a:xfrm>
            <a:off x="9921943" y="3043100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EPPetroecuador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– Gran Tierra Energy - SUCUMBIOS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5A7D3E7-A057-4E76-B779-8101ADABA75A}"/>
              </a:ext>
            </a:extLst>
          </p:cNvPr>
          <p:cNvSpPr txBox="1"/>
          <p:nvPr/>
        </p:nvSpPr>
        <p:spPr>
          <a:xfrm>
            <a:off x="1353351" y="4048912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B19435CF-152F-47BD-BA3A-4A57DF9C8A31}"/>
              </a:ext>
            </a:extLst>
          </p:cNvPr>
          <p:cNvSpPr txBox="1"/>
          <p:nvPr/>
        </p:nvSpPr>
        <p:spPr>
          <a:xfrm>
            <a:off x="2889250" y="3966385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para la soldadura bajo llamado (T&amp;M) con equipos de primera y equipos estructurales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F3C0663F-8B45-470F-971F-2423001EF837}"/>
              </a:ext>
            </a:extLst>
          </p:cNvPr>
          <p:cNvSpPr txBox="1"/>
          <p:nvPr/>
        </p:nvSpPr>
        <p:spPr>
          <a:xfrm>
            <a:off x="9891530" y="4030690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EPPetroecuador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– Gran Tierra Energy – Consorcio Frontera - SUCUMBIOS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B0CC6205-287E-41BF-A1E3-4A1FD94AFCBB}"/>
              </a:ext>
            </a:extLst>
          </p:cNvPr>
          <p:cNvSpPr txBox="1"/>
          <p:nvPr/>
        </p:nvSpPr>
        <p:spPr>
          <a:xfrm>
            <a:off x="2889250" y="4709476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para el montaje mecánico (piping) en el campo iguana del bloque 56 de Gran Tierra Energy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FDB8F491-67AB-4A20-9103-50862BF454F0}"/>
              </a:ext>
            </a:extLst>
          </p:cNvPr>
          <p:cNvSpPr txBox="1"/>
          <p:nvPr/>
        </p:nvSpPr>
        <p:spPr>
          <a:xfrm>
            <a:off x="9861117" y="4756355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ADC9D559-7DD6-4FB8-BEFF-414A0034ABFA}"/>
              </a:ext>
            </a:extLst>
          </p:cNvPr>
          <p:cNvSpPr txBox="1"/>
          <p:nvPr/>
        </p:nvSpPr>
        <p:spPr>
          <a:xfrm>
            <a:off x="1383095" y="5777383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F2C33F51-4C9E-4655-916F-8763F7F6F049}"/>
              </a:ext>
            </a:extLst>
          </p:cNvPr>
          <p:cNvSpPr txBox="1"/>
          <p:nvPr/>
        </p:nvSpPr>
        <p:spPr>
          <a:xfrm>
            <a:off x="2889250" y="5785719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para la soldadura bajo llamado (T&amp;M) con equipos de primera y equipos estructurales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F7142619-EDB1-4E53-9369-5FB633FAD68E}"/>
              </a:ext>
            </a:extLst>
          </p:cNvPr>
          <p:cNvSpPr txBox="1"/>
          <p:nvPr/>
        </p:nvSpPr>
        <p:spPr>
          <a:xfrm>
            <a:off x="9834714" y="5785719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EPPetroecuador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– Gran Tierra Energy – Consorcio Frontera - SUCUMBIOS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2814AE-7609-47BA-AA48-C13661E4FFC1}"/>
              </a:ext>
            </a:extLst>
          </p:cNvPr>
          <p:cNvSpPr txBox="1"/>
          <p:nvPr/>
        </p:nvSpPr>
        <p:spPr>
          <a:xfrm>
            <a:off x="2889250" y="6569575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Provisión de equipo para trabajos de soldadura para la construcción de un manifold de 10” para el campo Perico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7BB5BAA5-E4B2-4DEC-A046-47910F3CF85D}"/>
              </a:ext>
            </a:extLst>
          </p:cNvPr>
          <p:cNvSpPr txBox="1"/>
          <p:nvPr/>
        </p:nvSpPr>
        <p:spPr>
          <a:xfrm>
            <a:off x="9834714" y="6564192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CONSORCIO FRONTERA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D4D2BA2C-1D8D-4DDA-A205-74F51580D98F}"/>
              </a:ext>
            </a:extLst>
          </p:cNvPr>
          <p:cNvSpPr txBox="1"/>
          <p:nvPr/>
        </p:nvSpPr>
        <p:spPr>
          <a:xfrm>
            <a:off x="2889250" y="7639552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Provisión de equipo para trabajos de soldadura de tubería para sistema de reinyección, construcción de manifold en VHR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8A114A4B-6F5F-41FE-973A-6AF7A3A9F4B4}"/>
              </a:ext>
            </a:extLst>
          </p:cNvPr>
          <p:cNvSpPr txBox="1"/>
          <p:nvPr/>
        </p:nvSpPr>
        <p:spPr>
          <a:xfrm>
            <a:off x="9828364" y="7629602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EPPETROECUADOR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888F2543-B4D1-4794-98F2-1E3859CFB02F}"/>
              </a:ext>
            </a:extLst>
          </p:cNvPr>
          <p:cNvSpPr txBox="1"/>
          <p:nvPr/>
        </p:nvSpPr>
        <p:spPr>
          <a:xfrm>
            <a:off x="2889250" y="8709529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Provisión de equipo para trabajos de soldadura para la interconexión de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fracturador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para reinyección Estación Sur oeste – SHUSHUFINDI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47" name="object 21">
            <a:extLst>
              <a:ext uri="{FF2B5EF4-FFF2-40B4-BE49-F238E27FC236}">
                <a16:creationId xmlns:a16="http://schemas.microsoft.com/office/drawing/2014/main" id="{5FAAB317-48BA-4DFB-A318-609AC9CDF31F}"/>
              </a:ext>
            </a:extLst>
          </p:cNvPr>
          <p:cNvSpPr txBox="1"/>
          <p:nvPr/>
        </p:nvSpPr>
        <p:spPr>
          <a:xfrm>
            <a:off x="9861117" y="8695012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EPPETROECUADOR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9" name="object 21">
            <a:extLst>
              <a:ext uri="{FF2B5EF4-FFF2-40B4-BE49-F238E27FC236}">
                <a16:creationId xmlns:a16="http://schemas.microsoft.com/office/drawing/2014/main" id="{18BD56D7-2823-45F0-830D-6D9D2A30C099}"/>
              </a:ext>
            </a:extLst>
          </p:cNvPr>
          <p:cNvSpPr txBox="1"/>
          <p:nvPr/>
        </p:nvSpPr>
        <p:spPr>
          <a:xfrm>
            <a:off x="2889250" y="9779506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Provisión de equipo suelda de primera para la realización de Tie in en la línea de 8” en la plataforma Perico Norte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2C26B5AE-8A03-44EE-8BE0-A041F90E63F9}"/>
              </a:ext>
            </a:extLst>
          </p:cNvPr>
          <p:cNvSpPr txBox="1"/>
          <p:nvPr/>
        </p:nvSpPr>
        <p:spPr>
          <a:xfrm>
            <a:off x="9834714" y="9779506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CONSORCIO FRONTERA ENERGY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64805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0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 err="1"/>
              <a:t>Sertecpet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2</a:t>
            </a:r>
            <a:r>
              <a:rPr sz="4000" spc="-40" dirty="0"/>
              <a:t>-</a:t>
            </a:r>
            <a:r>
              <a:rPr sz="4000" spc="-10" dirty="0"/>
              <a:t>202</a:t>
            </a:r>
            <a:r>
              <a:rPr lang="es-ES" sz="4000" spc="-10" dirty="0"/>
              <a:t>5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889250" y="3043101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especializado para la soldadura bajo llamado (T&amp;M) con equipos de primera y equipos estructurales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ADC9D559-7DD6-4FB8-BEFF-414A0034ABFA}"/>
              </a:ext>
            </a:extLst>
          </p:cNvPr>
          <p:cNvSpPr txBox="1"/>
          <p:nvPr/>
        </p:nvSpPr>
        <p:spPr>
          <a:xfrm>
            <a:off x="1353351" y="3051716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BC95983-3475-447A-BFCA-F79DCF4882E8}"/>
              </a:ext>
            </a:extLst>
          </p:cNvPr>
          <p:cNvSpPr txBox="1"/>
          <p:nvPr/>
        </p:nvSpPr>
        <p:spPr>
          <a:xfrm>
            <a:off x="9943418" y="3060051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EPPetroecuador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 – Gran Tierra Energy – Consorcio Frontera - SUCUMBIOS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4977968B-9F27-4888-BC1D-714C9EEC88EE}"/>
              </a:ext>
            </a:extLst>
          </p:cNvPr>
          <p:cNvSpPr txBox="1"/>
          <p:nvPr/>
        </p:nvSpPr>
        <p:spPr>
          <a:xfrm>
            <a:off x="2889250" y="3884496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soldadura para construcción y ampliación de manifold para la plataforma Perico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3" name="object 21">
            <a:extLst>
              <a:ext uri="{FF2B5EF4-FFF2-40B4-BE49-F238E27FC236}">
                <a16:creationId xmlns:a16="http://schemas.microsoft.com/office/drawing/2014/main" id="{5AD0154E-92B6-47D7-A4F1-B5CCDE70FB2E}"/>
              </a:ext>
            </a:extLst>
          </p:cNvPr>
          <p:cNvSpPr txBox="1"/>
          <p:nvPr/>
        </p:nvSpPr>
        <p:spPr>
          <a:xfrm>
            <a:off x="9923930" y="3844556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CONSORCIO FRONTERA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4" name="object 21">
            <a:extLst>
              <a:ext uri="{FF2B5EF4-FFF2-40B4-BE49-F238E27FC236}">
                <a16:creationId xmlns:a16="http://schemas.microsoft.com/office/drawing/2014/main" id="{9D70DFC1-E282-490D-B4A8-4D0CAA487ADF}"/>
              </a:ext>
            </a:extLst>
          </p:cNvPr>
          <p:cNvSpPr txBox="1"/>
          <p:nvPr/>
        </p:nvSpPr>
        <p:spPr>
          <a:xfrm>
            <a:off x="1353350" y="4711198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5" name="object 21">
            <a:extLst>
              <a:ext uri="{FF2B5EF4-FFF2-40B4-BE49-F238E27FC236}">
                <a16:creationId xmlns:a16="http://schemas.microsoft.com/office/drawing/2014/main" id="{8F1E0A1E-99BE-4139-AC78-0D73F6F50C27}"/>
              </a:ext>
            </a:extLst>
          </p:cNvPr>
          <p:cNvSpPr txBox="1"/>
          <p:nvPr/>
        </p:nvSpPr>
        <p:spPr>
          <a:xfrm>
            <a:off x="2861879" y="4740499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provisión de personal y equipos (T&amp;M) para los diferentes trabajos de soldadura para la interconexión de los tanques en la plataforma Chanangue J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2A2DCC9F-920B-420C-BFA1-C79EA803432C}"/>
              </a:ext>
            </a:extLst>
          </p:cNvPr>
          <p:cNvSpPr txBox="1"/>
          <p:nvPr/>
        </p:nvSpPr>
        <p:spPr>
          <a:xfrm>
            <a:off x="2861879" y="6007888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provisión de personal y equipos (T&amp;M) para los diferentes trabajos de soldadura para la interconexión de los tanques en la plataforma Charapa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F97217DF-7806-4803-98F0-4734B6059EE9}"/>
              </a:ext>
            </a:extLst>
          </p:cNvPr>
          <p:cNvSpPr txBox="1"/>
          <p:nvPr/>
        </p:nvSpPr>
        <p:spPr>
          <a:xfrm>
            <a:off x="9947578" y="4711197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CONSORCIO FRONTERA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73915701-99CA-41EB-975F-C2FA0A340087}"/>
              </a:ext>
            </a:extLst>
          </p:cNvPr>
          <p:cNvSpPr txBox="1"/>
          <p:nvPr/>
        </p:nvSpPr>
        <p:spPr>
          <a:xfrm>
            <a:off x="9943418" y="6001819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CONSORCIO FRONTERA ENERGY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1169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48676" y="2917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 err="1"/>
              <a:t>Hoerbiger</a:t>
            </a:r>
            <a:r>
              <a:rPr lang="es-ES" sz="4000" spc="-229" dirty="0"/>
              <a:t> del Ecuador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3</a:t>
            </a:r>
            <a:r>
              <a:rPr sz="4000" spc="-40" dirty="0"/>
              <a:t>-</a:t>
            </a:r>
            <a:r>
              <a:rPr sz="4000" spc="-10" dirty="0"/>
              <a:t>202</a:t>
            </a:r>
            <a:r>
              <a:rPr lang="es-ES" sz="4000" spc="-10" dirty="0"/>
              <a:t>5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889250" y="3043101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la soldadura e instalación para el proyecto “INCREMENTO CAPACIDAD DE GENERACION Y COMPRESION EN LA ´PLATAFORMA RON – ORION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ADC9D559-7DD6-4FB8-BEFF-414A0034ABFA}"/>
              </a:ext>
            </a:extLst>
          </p:cNvPr>
          <p:cNvSpPr txBox="1"/>
          <p:nvPr/>
        </p:nvSpPr>
        <p:spPr>
          <a:xfrm>
            <a:off x="1353351" y="3051716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BC95983-3475-447A-BFCA-F79DCF4882E8}"/>
              </a:ext>
            </a:extLst>
          </p:cNvPr>
          <p:cNvSpPr txBox="1"/>
          <p:nvPr/>
        </p:nvSpPr>
        <p:spPr>
          <a:xfrm>
            <a:off x="9943418" y="3060051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ORION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D326A3A5-83FA-400E-828B-DC563424D058}"/>
              </a:ext>
            </a:extLst>
          </p:cNvPr>
          <p:cNvSpPr txBox="1"/>
          <p:nvPr/>
        </p:nvSpPr>
        <p:spPr>
          <a:xfrm>
            <a:off x="2889250" y="4266219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técnico especializado para la soldadura e instalación para el proyecto “INCREMENTO CAPACIDAD DE GENERACION Y COMPRESION EN LA ´PLATAFORMA ENO – ORION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79152692-9A3F-4F0A-AA86-8A95A20D1A46}"/>
              </a:ext>
            </a:extLst>
          </p:cNvPr>
          <p:cNvSpPr txBox="1"/>
          <p:nvPr/>
        </p:nvSpPr>
        <p:spPr>
          <a:xfrm>
            <a:off x="2889250" y="5539779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reparación de juntas soldadas del acumulador de gas en la plataforma Eno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1CA115A2-C8AE-4801-A24A-BB46D7A4EE99}"/>
              </a:ext>
            </a:extLst>
          </p:cNvPr>
          <p:cNvSpPr txBox="1"/>
          <p:nvPr/>
        </p:nvSpPr>
        <p:spPr>
          <a:xfrm>
            <a:off x="9943418" y="4307983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ORION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3D3C4DA-2693-41C2-9B80-01153101D2EA}"/>
              </a:ext>
            </a:extLst>
          </p:cNvPr>
          <p:cNvSpPr txBox="1"/>
          <p:nvPr/>
        </p:nvSpPr>
        <p:spPr>
          <a:xfrm>
            <a:off x="9943418" y="5529316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ORION ENERGY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6FA1EF15-E7AD-451D-A1FE-94E1DE2BC957}"/>
              </a:ext>
            </a:extLst>
          </p:cNvPr>
          <p:cNvSpPr txBox="1"/>
          <p:nvPr/>
        </p:nvSpPr>
        <p:spPr>
          <a:xfrm>
            <a:off x="1353350" y="6287891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292046BC-9B96-4BD8-81D9-E7E963763CF8}"/>
              </a:ext>
            </a:extLst>
          </p:cNvPr>
          <p:cNvSpPr txBox="1"/>
          <p:nvPr/>
        </p:nvSpPr>
        <p:spPr>
          <a:xfrm>
            <a:off x="2889250" y="6287891"/>
            <a:ext cx="6080376" cy="8938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soldadura con personal y equipos para trabajos de montaje de líneas de generador Waukesha en el bloque  54 campo Eno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6E7490EF-443F-49D2-BBB9-BD4C1A111E6E}"/>
              </a:ext>
            </a:extLst>
          </p:cNvPr>
          <p:cNvSpPr txBox="1"/>
          <p:nvPr/>
        </p:nvSpPr>
        <p:spPr>
          <a:xfrm>
            <a:off x="9968599" y="6279392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ORION ENERGY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2251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15706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34231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/>
              <a:t>PCA Company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3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889250" y="3043101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soldadura e instalación de 3 bayonetas para cabezal de pozo en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Sansahuari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ADC9D559-7DD6-4FB8-BEFF-414A0034ABFA}"/>
              </a:ext>
            </a:extLst>
          </p:cNvPr>
          <p:cNvSpPr txBox="1"/>
          <p:nvPr/>
        </p:nvSpPr>
        <p:spPr>
          <a:xfrm>
            <a:off x="1353351" y="3051716"/>
            <a:ext cx="928637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BC95983-3475-447A-BFCA-F79DCF4882E8}"/>
              </a:ext>
            </a:extLst>
          </p:cNvPr>
          <p:cNvSpPr txBox="1"/>
          <p:nvPr/>
        </p:nvSpPr>
        <p:spPr>
          <a:xfrm>
            <a:off x="9943418" y="3060051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CUYABENO PETRO - PETROCOBRA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A4E46773-398A-4EF0-B9A4-E4B9595007D8}"/>
              </a:ext>
            </a:extLst>
          </p:cNvPr>
          <p:cNvSpPr txBox="1"/>
          <p:nvPr/>
        </p:nvSpPr>
        <p:spPr>
          <a:xfrm>
            <a:off x="2889250" y="3644548"/>
            <a:ext cx="6080376" cy="1186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Servicios técnicos especializados  para la construcción y soldadura de tubería de 6 5/8" de diámetro y 0,625" de espesor y servicio de construcción e instalación de 152  travesaños de marco H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CDFCF80B-C84B-4584-BA80-51404B9CA5BA}"/>
              </a:ext>
            </a:extLst>
          </p:cNvPr>
          <p:cNvSpPr txBox="1"/>
          <p:nvPr/>
        </p:nvSpPr>
        <p:spPr>
          <a:xfrm>
            <a:off x="9993009" y="3644548"/>
            <a:ext cx="6080376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CUYABENO PETRO - PETROCOBRA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91118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15706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5265868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 err="1"/>
              <a:t>Frank´s</a:t>
            </a:r>
            <a:r>
              <a:rPr lang="es-ES" sz="4000" spc="-229" dirty="0"/>
              <a:t> International – EXPRO</a:t>
            </a:r>
            <a:r>
              <a:rPr sz="4000" spc="10" dirty="0"/>
              <a:t> </a:t>
            </a:r>
            <a:r>
              <a:rPr sz="4000" spc="-40" dirty="0"/>
              <a:t>(202</a:t>
            </a:r>
            <a:r>
              <a:rPr lang="es-ES" sz="4000" spc="-40" dirty="0"/>
              <a:t>2 - 2026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53" name="object 21">
            <a:extLst>
              <a:ext uri="{FF2B5EF4-FFF2-40B4-BE49-F238E27FC236}">
                <a16:creationId xmlns:a16="http://schemas.microsoft.com/office/drawing/2014/main" id="{7015719B-91E5-4172-8421-D5D61CA17B59}"/>
              </a:ext>
            </a:extLst>
          </p:cNvPr>
          <p:cNvSpPr txBox="1"/>
          <p:nvPr/>
        </p:nvSpPr>
        <p:spPr>
          <a:xfrm>
            <a:off x="2889250" y="3043101"/>
            <a:ext cx="6080376" cy="21249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Servicio de soldadura para pipe conductor 20” – X56, X70, X80: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Plataformas Gran Tierra: Chanangué J, Chanangué K, Charapa, Iguana, Conejo.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Plataformas Consorcio Frontera: Perico Norte, Perico Centro, Perico Sur.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Plataformas </a:t>
            </a:r>
            <a:r>
              <a:rPr lang="es-ES" sz="1900" dirty="0" err="1">
                <a:solidFill>
                  <a:srgbClr val="FFFFFF"/>
                </a:solidFill>
                <a:latin typeface="Arial MT"/>
                <a:cs typeface="Arial MT"/>
              </a:rPr>
              <a:t>Pardali</a:t>
            </a: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: Secoya 56, Secoya 57</a:t>
            </a:r>
            <a:endParaRPr lang="es-ES" sz="2050" dirty="0">
              <a:latin typeface="Arial MT"/>
              <a:cs typeface="Arial MT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ADC9D559-7DD6-4FB8-BEFF-414A0034ABFA}"/>
              </a:ext>
            </a:extLst>
          </p:cNvPr>
          <p:cNvSpPr txBox="1"/>
          <p:nvPr/>
        </p:nvSpPr>
        <p:spPr>
          <a:xfrm>
            <a:off x="1003769" y="3051716"/>
            <a:ext cx="1580681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2022 - 2026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BC95983-3475-447A-BFCA-F79DCF4882E8}"/>
              </a:ext>
            </a:extLst>
          </p:cNvPr>
          <p:cNvSpPr txBox="1"/>
          <p:nvPr/>
        </p:nvSpPr>
        <p:spPr>
          <a:xfrm>
            <a:off x="9943418" y="3060051"/>
            <a:ext cx="6080376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GRAN TIERRA ENERGY, CONSORCIO FRONTERA, PARDALISERVICES</a:t>
            </a:r>
            <a:endParaRPr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9639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1680FEC-3BEC-467D-9097-EDC7E2DBD689}"/>
              </a:ext>
            </a:extLst>
          </p:cNvPr>
          <p:cNvSpPr/>
          <p:nvPr/>
        </p:nvSpPr>
        <p:spPr>
          <a:xfrm>
            <a:off x="15706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973792" y="304310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0F1F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612546"/>
            <a:ext cx="20080605" cy="856615"/>
          </a:xfrm>
          <a:custGeom>
            <a:avLst/>
            <a:gdLst/>
            <a:ahLst/>
            <a:cxnLst/>
            <a:rect l="l" t="t" r="r" b="b"/>
            <a:pathLst>
              <a:path w="20080605" h="856615">
                <a:moveTo>
                  <a:pt x="20080541" y="855994"/>
                </a:moveTo>
                <a:lnTo>
                  <a:pt x="0" y="85599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55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4587" y="752983"/>
            <a:ext cx="622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265" dirty="0">
                <a:solidFill>
                  <a:srgbClr val="DDFF97"/>
                </a:solidFill>
                <a:latin typeface="Arial MT"/>
                <a:cs typeface="Arial MT"/>
              </a:rPr>
              <a:t>I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3351" y="611626"/>
            <a:ext cx="15265868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000" spc="-20" dirty="0"/>
              <a:t>Experiencia y trayectoria</a:t>
            </a:r>
            <a:r>
              <a:rPr sz="4000" spc="-20" dirty="0"/>
              <a:t>:</a:t>
            </a:r>
            <a:r>
              <a:rPr sz="4000" spc="-229" dirty="0"/>
              <a:t> </a:t>
            </a:r>
            <a:r>
              <a:rPr lang="es-ES" sz="4000" spc="-229" dirty="0"/>
              <a:t>CYFOIL </a:t>
            </a:r>
            <a:r>
              <a:rPr sz="4000" spc="-40" dirty="0"/>
              <a:t>(202</a:t>
            </a:r>
            <a:r>
              <a:rPr lang="es-ES" sz="4000" spc="-40" dirty="0"/>
              <a:t>2 - 2026</a:t>
            </a:r>
            <a:r>
              <a:rPr sz="4000" spc="-10" dirty="0"/>
              <a:t>)</a:t>
            </a:r>
            <a:endParaRPr sz="4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CA2787-E08B-4840-902B-90EB4D47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69" y="1432243"/>
            <a:ext cx="17776264" cy="1179037"/>
          </a:xfrm>
          <a:prstGeom prst="rect">
            <a:avLst/>
          </a:prstGeom>
        </p:spPr>
      </p:pic>
      <p:sp>
        <p:nvSpPr>
          <p:cNvPr id="29" name="object 21">
            <a:extLst>
              <a:ext uri="{FF2B5EF4-FFF2-40B4-BE49-F238E27FC236}">
                <a16:creationId xmlns:a16="http://schemas.microsoft.com/office/drawing/2014/main" id="{ADC9D559-7DD6-4FB8-BEFF-414A0034ABFA}"/>
              </a:ext>
            </a:extLst>
          </p:cNvPr>
          <p:cNvSpPr txBox="1"/>
          <p:nvPr/>
        </p:nvSpPr>
        <p:spPr>
          <a:xfrm>
            <a:off x="1003769" y="3051716"/>
            <a:ext cx="1580681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2022 - 2026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B82D88F9-E779-4BA2-93E4-40F7D6173C92}"/>
              </a:ext>
            </a:extLst>
          </p:cNvPr>
          <p:cNvSpPr txBox="1"/>
          <p:nvPr/>
        </p:nvSpPr>
        <p:spPr>
          <a:xfrm>
            <a:off x="2889250" y="3043101"/>
            <a:ext cx="10820400" cy="6373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CONSTRUCCION DE UN DUCTO DE 24 PULG X 65 – EPPETROECUADOR – EL EDEN YUTURI</a:t>
            </a: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lang="es-ES" sz="1900" dirty="0">
                <a:solidFill>
                  <a:srgbClr val="FFFFFF"/>
                </a:solidFill>
                <a:latin typeface="Arial MT"/>
                <a:cs typeface="Arial MT"/>
              </a:rPr>
              <a:t>CONSTRUCCION DE TANQUE DE 5000 BLS – EPPETROECUADOR </a:t>
            </a:r>
            <a:endParaRPr lang="es-ES" sz="2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36573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488" y="0"/>
            <a:ext cx="20104100" cy="113085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F6E799-A6C7-4752-B222-B620ABBC0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" y="2073275"/>
            <a:ext cx="5943600" cy="63246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2C7E91D-A706-421A-B1B0-18307E0B8748}"/>
              </a:ext>
            </a:extLst>
          </p:cNvPr>
          <p:cNvSpPr txBox="1"/>
          <p:nvPr/>
        </p:nvSpPr>
        <p:spPr>
          <a:xfrm>
            <a:off x="2584450" y="153987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PLATAFORMA IGUANA</a:t>
            </a:r>
            <a:endParaRPr lang="es-EC" b="1" dirty="0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C26EAFA-583A-4DAC-820B-1F0BE2026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269" y="2068129"/>
            <a:ext cx="6035581" cy="63246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11B6AFE-0D6C-4633-BB88-01C678DE46EA}"/>
              </a:ext>
            </a:extLst>
          </p:cNvPr>
          <p:cNvSpPr txBox="1"/>
          <p:nvPr/>
        </p:nvSpPr>
        <p:spPr>
          <a:xfrm>
            <a:off x="8375650" y="144003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PLATAFORMA CONEJO</a:t>
            </a:r>
            <a:endParaRPr lang="es-EC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2D30BAA-C3E7-4956-9519-C2B739893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2451" y="2068129"/>
            <a:ext cx="5927497" cy="63246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0B1316E-7014-4432-9BC4-04AC87CA6C80}"/>
              </a:ext>
            </a:extLst>
          </p:cNvPr>
          <p:cNvSpPr txBox="1"/>
          <p:nvPr/>
        </p:nvSpPr>
        <p:spPr>
          <a:xfrm>
            <a:off x="14471650" y="144003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PLATAFORMA CHANANGUE J2</a:t>
            </a:r>
            <a:endParaRPr lang="es-EC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488" y="0"/>
            <a:ext cx="20104100" cy="113085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2C7E91D-A706-421A-B1B0-18307E0B8748}"/>
              </a:ext>
            </a:extLst>
          </p:cNvPr>
          <p:cNvSpPr txBox="1"/>
          <p:nvPr/>
        </p:nvSpPr>
        <p:spPr>
          <a:xfrm>
            <a:off x="2584450" y="153987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PLATAFORMA CHARAPA</a:t>
            </a:r>
            <a:endParaRPr lang="es-EC" b="1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8BA624-8D18-46C7-8928-BFF33176E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2073275"/>
            <a:ext cx="6096000" cy="6400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AE7393-B47F-4AFB-BFF4-8C91321B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642" y="2070757"/>
            <a:ext cx="5989839" cy="64008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01CEE00-2DBF-4186-8405-F0F57AAA4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3475" y="2070757"/>
            <a:ext cx="616497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12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" name="13 Imagen">
            <a:extLst>
              <a:ext uri="{FF2B5EF4-FFF2-40B4-BE49-F238E27FC236}">
                <a16:creationId xmlns:a16="http://schemas.microsoft.com/office/drawing/2014/main" id="{261D418C-02F0-4B97-A81D-0CEC351D9A3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2073275"/>
            <a:ext cx="5943600" cy="6400800"/>
          </a:xfrm>
          <a:prstGeom prst="rect">
            <a:avLst/>
          </a:prstGeom>
        </p:spPr>
      </p:pic>
      <p:pic>
        <p:nvPicPr>
          <p:cNvPr id="4" name="17 Imagen">
            <a:extLst>
              <a:ext uri="{FF2B5EF4-FFF2-40B4-BE49-F238E27FC236}">
                <a16:creationId xmlns:a16="http://schemas.microsoft.com/office/drawing/2014/main" id="{09439B29-2806-46B7-82FB-6163885AC95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2073275"/>
            <a:ext cx="5943600" cy="6400800"/>
          </a:xfrm>
          <a:prstGeom prst="rect">
            <a:avLst/>
          </a:prstGeom>
        </p:spPr>
      </p:pic>
      <p:pic>
        <p:nvPicPr>
          <p:cNvPr id="5" name="13 Imagen">
            <a:extLst>
              <a:ext uri="{FF2B5EF4-FFF2-40B4-BE49-F238E27FC236}">
                <a16:creationId xmlns:a16="http://schemas.microsoft.com/office/drawing/2014/main" id="{A631B950-DFFF-4367-8014-FA4B67BCD6F1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6100" y="2061076"/>
            <a:ext cx="594995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6" name="13 Imagen">
            <a:extLst>
              <a:ext uri="{FF2B5EF4-FFF2-40B4-BE49-F238E27FC236}">
                <a16:creationId xmlns:a16="http://schemas.microsoft.com/office/drawing/2014/main" id="{513C92DE-7ED6-43CB-ACEE-7441F55C36F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2073275"/>
            <a:ext cx="5943600" cy="6324600"/>
          </a:xfrm>
          <a:prstGeom prst="rect">
            <a:avLst/>
          </a:prstGeom>
        </p:spPr>
      </p:pic>
      <p:pic>
        <p:nvPicPr>
          <p:cNvPr id="7" name="12 Imagen">
            <a:extLst>
              <a:ext uri="{FF2B5EF4-FFF2-40B4-BE49-F238E27FC236}">
                <a16:creationId xmlns:a16="http://schemas.microsoft.com/office/drawing/2014/main" id="{31AF4CE7-7127-4137-978E-A28E81489C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2041023"/>
            <a:ext cx="5943600" cy="6324599"/>
          </a:xfrm>
          <a:prstGeom prst="rect">
            <a:avLst/>
          </a:prstGeom>
        </p:spPr>
      </p:pic>
      <p:pic>
        <p:nvPicPr>
          <p:cNvPr id="8" name="0 Imagen">
            <a:extLst>
              <a:ext uri="{FF2B5EF4-FFF2-40B4-BE49-F238E27FC236}">
                <a16:creationId xmlns:a16="http://schemas.microsoft.com/office/drawing/2014/main" id="{7FBB48AF-3793-472A-A524-6FD1A2F1267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450" y="2041022"/>
            <a:ext cx="5943600" cy="632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34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C4C3425-63E9-47A9-9798-FA2C020333AC}"/>
              </a:ext>
            </a:extLst>
          </p:cNvPr>
          <p:cNvSpPr/>
          <p:nvPr/>
        </p:nvSpPr>
        <p:spPr>
          <a:xfrm>
            <a:off x="15706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1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8850" baseline="-9887" dirty="0">
                <a:solidFill>
                  <a:srgbClr val="DDFF97"/>
                </a:solidFill>
              </a:rPr>
              <a:t>I</a:t>
            </a:r>
            <a:r>
              <a:rPr sz="8850" spc="637" baseline="-9887" dirty="0">
                <a:solidFill>
                  <a:srgbClr val="DDFF97"/>
                </a:solidFill>
              </a:rPr>
              <a:t> </a:t>
            </a:r>
            <a:r>
              <a:rPr sz="5900" spc="-310" dirty="0"/>
              <a:t>Compromiso</a:t>
            </a:r>
            <a:r>
              <a:rPr sz="5900" spc="245" dirty="0"/>
              <a:t> </a:t>
            </a:r>
            <a:r>
              <a:rPr sz="5900" spc="-755" dirty="0"/>
              <a:t>SSA</a:t>
            </a:r>
            <a:r>
              <a:rPr sz="5900" spc="420" dirty="0"/>
              <a:t> </a:t>
            </a:r>
            <a:r>
              <a:rPr sz="5900" dirty="0"/>
              <a:t>/</a:t>
            </a:r>
            <a:r>
              <a:rPr sz="5900" spc="-204" dirty="0"/>
              <a:t> </a:t>
            </a:r>
            <a:r>
              <a:rPr sz="5900" spc="-925" dirty="0"/>
              <a:t>HSE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5706" y="2607250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706" y="347109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06" y="394228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06" y="5905579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D622058-A13E-4B91-8B66-4366867A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96" y="2607250"/>
            <a:ext cx="18054014" cy="6094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6361649D-500E-4184-B50F-04E458BC1A3C}"/>
              </a:ext>
            </a:extLst>
          </p:cNvPr>
          <p:cNvSpPr/>
          <p:nvPr/>
        </p:nvSpPr>
        <p:spPr>
          <a:xfrm>
            <a:off x="0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95"/>
              </a:spcBef>
            </a:pPr>
            <a:r>
              <a:rPr sz="8700" baseline="-12452" dirty="0">
                <a:solidFill>
                  <a:srgbClr val="DDFF97"/>
                </a:solidFill>
              </a:rPr>
              <a:t>I</a:t>
            </a:r>
            <a:r>
              <a:rPr sz="8700" spc="637" baseline="-12452" dirty="0">
                <a:solidFill>
                  <a:srgbClr val="DDFF97"/>
                </a:solidFill>
              </a:rPr>
              <a:t> </a:t>
            </a:r>
            <a:r>
              <a:rPr sz="5800" spc="-275" dirty="0"/>
              <a:t>Datos</a:t>
            </a:r>
            <a:r>
              <a:rPr sz="5800" spc="-30" dirty="0"/>
              <a:t> </a:t>
            </a:r>
            <a:r>
              <a:rPr sz="5800" spc="-165" dirty="0"/>
              <a:t>Corporativos</a:t>
            </a:r>
            <a:endParaRPr sz="5800" dirty="0"/>
          </a:p>
        </p:txBody>
      </p:sp>
      <p:sp>
        <p:nvSpPr>
          <p:cNvPr id="4" name="object 4"/>
          <p:cNvSpPr txBox="1"/>
          <p:nvPr/>
        </p:nvSpPr>
        <p:spPr>
          <a:xfrm>
            <a:off x="1328028" y="2809203"/>
            <a:ext cx="166179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45" dirty="0">
                <a:solidFill>
                  <a:srgbClr val="E6FDA0"/>
                </a:solidFill>
                <a:latin typeface="Arial MT"/>
                <a:cs typeface="Arial MT"/>
              </a:rPr>
              <a:t>UBICACIÓN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1242" y="2809203"/>
            <a:ext cx="4015208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15" dirty="0">
                <a:solidFill>
                  <a:srgbClr val="E4F29A"/>
                </a:solidFill>
                <a:latin typeface="Arial MT"/>
                <a:cs typeface="Arial MT"/>
              </a:rPr>
              <a:t>CORREOS  E</a:t>
            </a:r>
            <a:r>
              <a:rPr sz="2550" spc="-215" dirty="0">
                <a:solidFill>
                  <a:srgbClr val="E4F29A"/>
                </a:solidFill>
                <a:latin typeface="Arial MT"/>
                <a:cs typeface="Arial MT"/>
              </a:rPr>
              <a:t>LECTRÓNICO</a:t>
            </a:r>
            <a:r>
              <a:rPr lang="es-ES" sz="2550" spc="-215" dirty="0">
                <a:solidFill>
                  <a:srgbClr val="E4F29A"/>
                </a:solidFill>
                <a:latin typeface="Arial MT"/>
                <a:cs typeface="Arial MT"/>
              </a:rPr>
              <a:t>S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0980" y="3610880"/>
            <a:ext cx="61207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30" dirty="0">
                <a:solidFill>
                  <a:srgbClr val="FFFFFF"/>
                </a:solidFill>
                <a:latin typeface="Arial MT"/>
                <a:cs typeface="Arial MT"/>
              </a:rPr>
              <a:t>Lot.</a:t>
            </a:r>
            <a:r>
              <a:rPr sz="24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F6F6F6"/>
                </a:solidFill>
                <a:latin typeface="Arial MT"/>
                <a:cs typeface="Arial MT"/>
              </a:rPr>
              <a:t>San</a:t>
            </a:r>
            <a:r>
              <a:rPr sz="2450" spc="-12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EFEFEF"/>
                </a:solidFill>
                <a:latin typeface="Arial MT"/>
                <a:cs typeface="Arial MT"/>
              </a:rPr>
              <a:t>Rafael,</a:t>
            </a:r>
            <a:r>
              <a:rPr sz="2450" spc="45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EBEBEB"/>
                </a:solidFill>
                <a:latin typeface="Arial MT"/>
                <a:cs typeface="Arial MT"/>
              </a:rPr>
              <a:t>Venezuela</a:t>
            </a:r>
            <a:r>
              <a:rPr sz="2450" spc="18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160" dirty="0">
                <a:solidFill>
                  <a:srgbClr val="CAF6E2"/>
                </a:solidFill>
                <a:latin typeface="Arial MT"/>
                <a:cs typeface="Arial MT"/>
              </a:rPr>
              <a:t>y</a:t>
            </a:r>
            <a:r>
              <a:rPr sz="2450" spc="-20" dirty="0">
                <a:solidFill>
                  <a:srgbClr val="CAF6E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enfrada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105" dirty="0">
                <a:solidFill>
                  <a:srgbClr val="E9E9E9"/>
                </a:solidFill>
                <a:latin typeface="Arial MT"/>
                <a:cs typeface="Arial MT"/>
              </a:rPr>
              <a:t>a</a:t>
            </a:r>
            <a:r>
              <a:rPr sz="2450" spc="-75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2450" spc="-280" dirty="0">
                <a:solidFill>
                  <a:srgbClr val="FFFFFF"/>
                </a:solidFill>
                <a:latin typeface="Arial MT"/>
                <a:cs typeface="Arial MT"/>
              </a:rPr>
              <a:t>OCP.</a:t>
            </a:r>
            <a:endParaRPr sz="24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59053" y="3627241"/>
            <a:ext cx="5289550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asosersoIamazonas2O20@gmaiI.com</a:t>
            </a:r>
            <a:endParaRPr lang="es-ES" sz="2300" spc="65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446BF049-DED0-43F2-A595-670A424D6649}"/>
              </a:ext>
            </a:extLst>
          </p:cNvPr>
          <p:cNvSpPr txBox="1"/>
          <p:nvPr/>
        </p:nvSpPr>
        <p:spPr>
          <a:xfrm>
            <a:off x="10759053" y="4052605"/>
            <a:ext cx="5289550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2300" spc="65" dirty="0" err="1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carlos.polanco@asosersoldamaz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.com</a:t>
            </a:r>
            <a:endParaRPr lang="es-ES" sz="2300" spc="65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630B541A-2ECC-43F7-89CF-0288921DCE43}"/>
              </a:ext>
            </a:extLst>
          </p:cNvPr>
          <p:cNvSpPr txBox="1"/>
          <p:nvPr/>
        </p:nvSpPr>
        <p:spPr>
          <a:xfrm>
            <a:off x="10799008" y="5219283"/>
            <a:ext cx="4015208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15" dirty="0">
                <a:solidFill>
                  <a:srgbClr val="E4F29A"/>
                </a:solidFill>
                <a:latin typeface="Arial MT"/>
                <a:cs typeface="Arial MT"/>
              </a:rPr>
              <a:t>RUC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B373774E-7553-45AE-AB39-1CB46A6F3FC1}"/>
              </a:ext>
            </a:extLst>
          </p:cNvPr>
          <p:cNvSpPr txBox="1"/>
          <p:nvPr/>
        </p:nvSpPr>
        <p:spPr>
          <a:xfrm>
            <a:off x="10799008" y="5696078"/>
            <a:ext cx="5289550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2300" spc="65" dirty="0">
                <a:solidFill>
                  <a:srgbClr val="FFFFFF"/>
                </a:solidFill>
                <a:latin typeface="Arial MT"/>
                <a:cs typeface="Arial MT"/>
              </a:rPr>
              <a:t>2191767945001</a:t>
            </a: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56640C66-12CA-4747-AE61-4656DF6F3123}"/>
              </a:ext>
            </a:extLst>
          </p:cNvPr>
          <p:cNvSpPr txBox="1"/>
          <p:nvPr/>
        </p:nvSpPr>
        <p:spPr>
          <a:xfrm>
            <a:off x="1328028" y="5013277"/>
            <a:ext cx="4015208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550" spc="-215" dirty="0">
                <a:solidFill>
                  <a:srgbClr val="E4F29A"/>
                </a:solidFill>
                <a:latin typeface="Arial MT"/>
                <a:cs typeface="Arial MT"/>
              </a:rPr>
              <a:t>CONTACTO COMERCIAL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21ADB78B-C0E3-40EF-B523-A09F46D4B9E3}"/>
              </a:ext>
            </a:extLst>
          </p:cNvPr>
          <p:cNvSpPr txBox="1"/>
          <p:nvPr/>
        </p:nvSpPr>
        <p:spPr>
          <a:xfrm>
            <a:off x="1370766" y="5625475"/>
            <a:ext cx="6242883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2300" spc="65" dirty="0">
                <a:solidFill>
                  <a:srgbClr val="FFFFFF"/>
                </a:solidFill>
                <a:latin typeface="Arial MT"/>
                <a:cs typeface="Arial MT"/>
              </a:rPr>
              <a:t>Carlos Polanco – 0999700810 / 0982370044</a:t>
            </a: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D665EA74-2C7D-4A9A-B7F8-89AA1FADCB36}"/>
              </a:ext>
            </a:extLst>
          </p:cNvPr>
          <p:cNvSpPr txBox="1"/>
          <p:nvPr/>
        </p:nvSpPr>
        <p:spPr>
          <a:xfrm>
            <a:off x="1400511" y="6142343"/>
            <a:ext cx="6242883" cy="368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2300" spc="65" dirty="0">
                <a:solidFill>
                  <a:srgbClr val="FFFFFF"/>
                </a:solidFill>
                <a:latin typeface="Arial MT"/>
                <a:cs typeface="Arial MT"/>
              </a:rPr>
              <a:t>Fidel Tituana - 0994159002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0FC0438-5509-4143-A619-CDB6912A9C1F}"/>
              </a:ext>
            </a:extLst>
          </p:cNvPr>
          <p:cNvSpPr/>
          <p:nvPr/>
        </p:nvSpPr>
        <p:spPr>
          <a:xfrm>
            <a:off x="5072" y="0"/>
            <a:ext cx="20080605" cy="113093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object 2"/>
          <p:cNvSpPr/>
          <p:nvPr/>
        </p:nvSpPr>
        <p:spPr>
          <a:xfrm>
            <a:off x="6942197" y="5571819"/>
            <a:ext cx="6282690" cy="0"/>
          </a:xfrm>
          <a:custGeom>
            <a:avLst/>
            <a:gdLst/>
            <a:ahLst/>
            <a:cxnLst/>
            <a:rect l="l" t="t" r="r" b="b"/>
            <a:pathLst>
              <a:path w="6282690">
                <a:moveTo>
                  <a:pt x="0" y="0"/>
                </a:moveTo>
                <a:lnTo>
                  <a:pt x="6282531" y="0"/>
                </a:lnTo>
              </a:path>
            </a:pathLst>
          </a:custGeom>
          <a:ln w="23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63757" y="2786953"/>
            <a:ext cx="13056235" cy="1321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spc="-830" dirty="0">
                <a:solidFill>
                  <a:srgbClr val="DFFDA0"/>
                </a:solidFill>
              </a:rPr>
              <a:t>GRACIAS</a:t>
            </a:r>
            <a:r>
              <a:rPr sz="8500" spc="365" dirty="0">
                <a:solidFill>
                  <a:srgbClr val="DFFDA0"/>
                </a:solidFill>
              </a:rPr>
              <a:t> </a:t>
            </a:r>
            <a:r>
              <a:rPr sz="8500" spc="-1355" dirty="0">
                <a:solidFill>
                  <a:srgbClr val="DFFF93"/>
                </a:solidFill>
              </a:rPr>
              <a:t>POR</a:t>
            </a:r>
            <a:r>
              <a:rPr sz="8500" spc="245" dirty="0">
                <a:solidFill>
                  <a:srgbClr val="DFFF93"/>
                </a:solidFill>
              </a:rPr>
              <a:t> </a:t>
            </a:r>
            <a:r>
              <a:rPr sz="8500" spc="-890" dirty="0">
                <a:solidFill>
                  <a:srgbClr val="DFFDA1"/>
                </a:solidFill>
              </a:rPr>
              <a:t>SU</a:t>
            </a:r>
            <a:r>
              <a:rPr sz="8500" dirty="0">
                <a:solidFill>
                  <a:srgbClr val="DFFDA1"/>
                </a:solidFill>
              </a:rPr>
              <a:t> </a:t>
            </a:r>
            <a:r>
              <a:rPr sz="8500" spc="-840" dirty="0">
                <a:solidFill>
                  <a:srgbClr val="DFFF9A"/>
                </a:solidFill>
              </a:rPr>
              <a:t>ATENCIÓN</a:t>
            </a:r>
            <a:endParaRPr sz="8500"/>
          </a:p>
        </p:txBody>
      </p:sp>
      <p:sp>
        <p:nvSpPr>
          <p:cNvPr id="6" name="object 6"/>
          <p:cNvSpPr txBox="1"/>
          <p:nvPr/>
        </p:nvSpPr>
        <p:spPr>
          <a:xfrm>
            <a:off x="2981000" y="4417138"/>
            <a:ext cx="14128750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-6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Esperamos</a:t>
            </a:r>
            <a:r>
              <a:rPr sz="2950" spc="4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contar</a:t>
            </a:r>
            <a:r>
              <a:rPr sz="2950" spc="10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con</a:t>
            </a:r>
            <a:r>
              <a:rPr sz="2950" spc="-18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spc="-16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su</a:t>
            </a:r>
            <a:r>
              <a:rPr sz="2950" spc="-19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apertura</a:t>
            </a:r>
            <a:r>
              <a:rPr sz="2950" spc="-2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para</a:t>
            </a:r>
            <a:r>
              <a:rPr sz="2950" spc="-6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generar</a:t>
            </a:r>
            <a:r>
              <a:rPr sz="2950" spc="114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desarrollo</a:t>
            </a:r>
            <a:r>
              <a:rPr sz="2950" spc="4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y</a:t>
            </a:r>
            <a:r>
              <a:rPr sz="2950" spc="-9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empleo</a:t>
            </a:r>
            <a:r>
              <a:rPr sz="2950" spc="-3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en</a:t>
            </a:r>
            <a:r>
              <a:rPr sz="2950" spc="-19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spc="-2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nuestra</a:t>
            </a:r>
            <a:r>
              <a:rPr sz="2950" spc="45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zona.</a:t>
            </a:r>
            <a:endParaRPr sz="2950" dirty="0">
              <a:solidFill>
                <a:schemeClr val="bg1">
                  <a:lumMod val="95000"/>
                </a:schemeClr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7424" y="6030346"/>
            <a:ext cx="1021223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215" dirty="0">
                <a:solidFill>
                  <a:srgbClr val="F7F7F7"/>
                </a:solidFill>
                <a:latin typeface="Arial MT"/>
                <a:cs typeface="Arial MT"/>
              </a:rPr>
              <a:t>ASOSERSOLDAMAZ</a:t>
            </a:r>
            <a:r>
              <a:rPr sz="2550" spc="-215" dirty="0">
                <a:solidFill>
                  <a:srgbClr val="F7F7F7"/>
                </a:solidFill>
                <a:latin typeface="Arial MT"/>
                <a:cs typeface="Arial MT"/>
              </a:rPr>
              <a:t>:</a:t>
            </a:r>
            <a:r>
              <a:rPr sz="2550" spc="5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550" spc="-65" dirty="0">
                <a:solidFill>
                  <a:srgbClr val="FFFFFF"/>
                </a:solidFill>
                <a:latin typeface="Arial MT"/>
                <a:cs typeface="Arial MT"/>
              </a:rPr>
              <a:t>Compromiso,</a:t>
            </a:r>
            <a:r>
              <a:rPr sz="25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DDDDDD"/>
                </a:solidFill>
                <a:latin typeface="Arial MT"/>
                <a:cs typeface="Arial MT"/>
              </a:rPr>
              <a:t>Calidad</a:t>
            </a:r>
            <a:r>
              <a:rPr sz="2550" spc="-110" dirty="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D8FBD3"/>
                </a:solidFill>
                <a:latin typeface="Arial MT"/>
                <a:cs typeface="Arial MT"/>
              </a:rPr>
              <a:t>y</a:t>
            </a:r>
            <a:r>
              <a:rPr sz="2550" spc="-130" dirty="0">
                <a:solidFill>
                  <a:srgbClr val="D8FBD3"/>
                </a:solidFill>
                <a:latin typeface="Arial MT"/>
                <a:cs typeface="Arial MT"/>
              </a:rPr>
              <a:t> </a:t>
            </a:r>
            <a:r>
              <a:rPr sz="2550" spc="-75" dirty="0">
                <a:solidFill>
                  <a:srgbClr val="EFEFEF"/>
                </a:solidFill>
                <a:latin typeface="Arial MT"/>
                <a:cs typeface="Arial MT"/>
              </a:rPr>
              <a:t>Desarrollo</a:t>
            </a:r>
            <a:r>
              <a:rPr sz="2550" spc="-55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FFFFFF"/>
                </a:solidFill>
                <a:latin typeface="Arial MT"/>
                <a:cs typeface="Arial MT"/>
              </a:rPr>
              <a:t>Local.</a:t>
            </a:r>
            <a:endParaRPr sz="25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3228</TotalTime>
  <Words>1791</Words>
  <Application>Microsoft Office PowerPoint</Application>
  <PresentationFormat>Personalizado</PresentationFormat>
  <Paragraphs>206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Arial MT</vt:lpstr>
      <vt:lpstr>Calibri</vt:lpstr>
      <vt:lpstr>Cambria</vt:lpstr>
      <vt:lpstr>Office Theme</vt:lpstr>
      <vt:lpstr>ASOCIACION DE SERVICIOS DE SOLDADURA AMAZONAS</vt:lpstr>
      <vt:lpstr>Propuesta de Valor</vt:lpstr>
      <vt:lpstr>Presentación de PowerPoint</vt:lpstr>
      <vt:lpstr>Presentación de PowerPoint</vt:lpstr>
      <vt:lpstr>Presentación de PowerPoint</vt:lpstr>
      <vt:lpstr>I Nuestro Equipo Directivo</vt:lpstr>
      <vt:lpstr>I Nuestros Clientes</vt:lpstr>
      <vt:lpstr>Experiencia y trayectoria: Gran Tierra Energy (2024-2026)</vt:lpstr>
      <vt:lpstr>Experiencia y trayectoria: Gran Tierra Energy (2024-2026)</vt:lpstr>
      <vt:lpstr>Experiencia y trayectoria: Conduto (2022-2025)</vt:lpstr>
      <vt:lpstr>Experiencia y trayectoria: Conduto (2022-2025)</vt:lpstr>
      <vt:lpstr>Experiencia y trayectoria: Sertecpet (2022-2025)</vt:lpstr>
      <vt:lpstr>Experiencia y trayectoria: Sertecpet (2022-2025)</vt:lpstr>
      <vt:lpstr>Experiencia y trayectoria: Hoerbiger del Ecuador (2023-2025)</vt:lpstr>
      <vt:lpstr>Experiencia y trayectoria: PCA Company (2023)</vt:lpstr>
      <vt:lpstr>Experiencia y trayectoria: Frank´s International – EXPRO (2022 - 2026)</vt:lpstr>
      <vt:lpstr>Experiencia y trayectoria: CYFOIL (2022 - 2026)</vt:lpstr>
      <vt:lpstr>Presentación de PowerPoint</vt:lpstr>
      <vt:lpstr>Presentación de PowerPoint</vt:lpstr>
      <vt:lpstr>Presentación de PowerPoint</vt:lpstr>
      <vt:lpstr>Presentación de PowerPoint</vt:lpstr>
      <vt:lpstr>I Compromiso SSA / HSE</vt:lpstr>
      <vt:lpstr>I Datos Corporativos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Admin</dc:creator>
  <cp:lastModifiedBy>Carlos Collazos Doncel</cp:lastModifiedBy>
  <cp:revision>44</cp:revision>
  <dcterms:created xsi:type="dcterms:W3CDTF">2026-04-27T17:19:32Z</dcterms:created>
  <dcterms:modified xsi:type="dcterms:W3CDTF">2026-08-04T23:29:38Z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LastSaved">
    <vt:filetime>2026-04-27T00:00:00Z</vt:filetime>
  </property>
</Properties>
</file>